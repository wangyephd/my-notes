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83" r:id="rId4"/>
    <p:sldId id="290" r:id="rId5"/>
    <p:sldId id="295" r:id="rId6"/>
    <p:sldId id="294" r:id="rId7"/>
    <p:sldId id="284" r:id="rId8"/>
    <p:sldId id="286" r:id="rId9"/>
    <p:sldId id="285" r:id="rId10"/>
    <p:sldId id="292" r:id="rId11"/>
    <p:sldId id="28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17"/>
    <p:restoredTop sz="94811"/>
  </p:normalViewPr>
  <p:slideViewPr>
    <p:cSldViewPr snapToGrid="0">
      <p:cViewPr varScale="1">
        <p:scale>
          <a:sx n="136" d="100"/>
          <a:sy n="136" d="100"/>
        </p:scale>
        <p:origin x="1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6AE778-9DFE-2347-9C0D-64741B7B0459}" type="datetimeFigureOut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0A89CE-D204-374E-8DAD-A96059F70F6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7274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F92EF-1EFF-4DA6-B250-AC69CD795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5557B22-B359-C7D2-E2C4-C248BD310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C0D2F8-B9CD-C865-810F-5ACC44633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D594-297D-1448-8C21-16F42A135EF9}" type="datetime1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0FA153-E7B9-C566-0CFE-5496173FA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ABA2AB-B262-74B0-6735-3CAE7E332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2456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6C2F0-BF11-472A-6B02-E5D4D98EA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04F6F1-1868-1CD1-48A2-EE9FA6B0D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D02121-62E4-3FB2-67F3-9916C1C19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9B166-ED57-8E46-989A-5D080EAD3A47}" type="datetime1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C41342-6C52-4FED-9B39-EAC7EC6A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59120D-E2F1-0881-0FDA-B53D00B6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1863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AA1C5A-E925-1F13-AA1D-1A8E276A6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BDC7A1-E933-C18D-A082-3C8B73A52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0ECA9C-3D98-F930-723E-79E9B7576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67E8-B305-D24C-93B1-3E3EFA11795A}" type="datetime1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2B89C8-B3A2-86EE-2574-564F1040D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4495C1-0798-D503-6AE0-10A45DC70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9677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92A42-C5AA-9A8B-CEE4-2CE29821D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D29FA6-C922-62A8-FB37-6BFD9E071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781F89-B4D6-2449-48FA-B72CB4EFF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585702-B43A-BBD9-BEBC-1D45626BE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6E50C-77AD-BB43-B87E-946B1935B17A}" type="datetime1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7CBBB7-D4AC-3A29-BAEC-2B52833F4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87E909-0ED9-A27C-3EE9-CE7FFD5A4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6959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99FA2F-0A99-57EA-5C74-A4E525C95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023205-B211-8575-9861-78222895E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D44CE4-859E-1D66-4664-0260E53FB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06D43F-B1AC-4021-5882-3AEBECF8A8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FADC11D-62CE-CC7F-20C8-AE52C708A8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5B57A21-ACDC-8D40-C898-E5D1D7F76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C166-8A5F-844D-B744-0B6F42FBEE4D}" type="datetime1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815D349-2B4D-229F-3CE2-5739173D3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55AF36-C3FE-52A5-7AC5-FD818A028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7299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BE7A1E-F965-2371-7952-161C9100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7782A2-2E27-7BC9-C710-D57A31E41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E1D46-58CD-B04D-9E1C-52BE17883DD1}" type="datetime1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D719C0-B903-169C-7098-74FA64FBD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EDE469-4F1E-F6A9-8E93-930B67876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9755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2690EEB-FCB2-8FD7-D093-EB150D20E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26B60-5C2A-6145-A6BE-524D4B2E689A}" type="datetime1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27E522-AF37-98DF-4D63-1E2F46F5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49024D-5FAD-883A-740A-39B22FB6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6099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9BAE5-66E8-8986-AF5D-B39019CF9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68CF20-ECC0-3D61-9D70-77187BAE1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A075B4-0E90-C146-9413-1BF11E4F0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7BFB57-6C43-85EC-D2DF-F1C88D78D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98643-BB66-914C-9FEB-0343F7166C06}" type="datetime1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C261E6-E1A9-296A-7F6A-239DFFC3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3DF250-86EB-0AC6-3321-2982C8AA0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3268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82EA4-35D9-7008-E563-4DF7CB962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70439A-0367-4D9B-4497-77E482819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E661FA-DA0C-89D5-B83B-F5A7B583A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98A794-6860-82CC-DC0B-67DD257A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F890-6928-1D45-800B-4F8D8CE5CF94}" type="datetime1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8989DD-20B4-0CDB-9CFF-067E21AF8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035472-DCA3-B1B4-C2D0-1A21C651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5868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E3441-14CC-F0EA-E713-7B6A9016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A8BF29-A65F-526E-3CC9-406CB53A2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FF5E20-AA53-0746-3E54-6C4CE64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6D3AD-1B68-2845-871F-8A470FF0AE38}" type="datetime1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AEF914-5F71-595E-4599-4B1CC4115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E0D3C7-59AB-A45D-3D0C-F4D7DF75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134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B603B28-7CD9-0FB5-875F-EEA3A4E99F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8E6224-F864-578C-CB43-D9899E05C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7A0157-53BF-A4EE-3649-32C80E1A7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A5659-6E36-0F4B-A32D-F544E7EAA3FE}" type="datetime1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521CD1-104C-49C9-0971-D4515C47A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3EFC1B-EF9E-7AEB-AF2D-C99A53D0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0201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BCF9C47-6F41-4596-980F-51648418C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B5080D-43EE-97AD-3BA9-294FE9247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0473A4-38B7-7366-C5C2-BA298EE6F6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8DB7B-3621-1B4D-A752-E38C50549378}" type="datetime1">
              <a:rPr kumimoji="1" lang="zh-CN" altLang="en-US" smtClean="0"/>
              <a:t>2026/5/18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1B0747-E5E2-42BE-85B6-6DC6ECB4B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70103F-9022-077C-ED6C-304F89DEE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053A5-EFDB-8D4D-8D48-FAFBCDBE67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93972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126CF8-DEFD-FD19-C352-56F40039A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Kaiti SC" panose="02010600040101010101" pitchFamily="2" charset="-122"/>
                <a:ea typeface="Kaiti SC" panose="02010600040101010101" pitchFamily="2" charset="-122"/>
                <a:cs typeface="Arial" panose="020B0604020202020204" pitchFamily="34" charset="0"/>
              </a:rPr>
              <a:t>个人简介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E944DA-B33C-3DF4-DB62-7FFA769D6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p"/>
            </a:pP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 王冶｜吉林大学 人工智能 在读博士生 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26.12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毕业</a:t>
            </a:r>
          </a:p>
          <a:p>
            <a:pPr>
              <a:buFont typeface="Wingdings" pitchFamily="2" charset="2"/>
              <a:buChar char="p"/>
            </a:pP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 图像编辑、风格迁移、字体生成、统一理解与生成</a:t>
            </a:r>
            <a:endParaRPr kumimoji="1" lang="zh-CN" altLang="en-US" dirty="0">
              <a:latin typeface="Apple Braille" pitchFamily="2" charset="0"/>
              <a:ea typeface="Kaiti SC" panose="02010600040101010101" pitchFamily="2" charset="-122"/>
            </a:endParaRPr>
          </a:p>
          <a:p>
            <a:pPr>
              <a:buFont typeface="Wingdings" pitchFamily="2" charset="2"/>
              <a:buChar char="p"/>
            </a:pP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 发表</a:t>
            </a:r>
            <a:r>
              <a:rPr kumimoji="1" lang="en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CCF-A </a:t>
            </a:r>
            <a:r>
              <a:rPr kumimoji="1" lang="zh-CN" altLang="en-US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论文</a:t>
            </a:r>
            <a:r>
              <a:rPr kumimoji="1" lang="en-US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2</a:t>
            </a:r>
            <a:r>
              <a:rPr kumimoji="1" lang="zh-CN" altLang="en-US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篇</a:t>
            </a:r>
            <a:r>
              <a:rPr kumimoji="1" lang="en-US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(</a:t>
            </a:r>
            <a:r>
              <a:rPr kumimoji="1" lang="en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CVPR</a:t>
            </a:r>
            <a:r>
              <a:rPr kumimoji="1" lang="zh-CN" altLang="e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、</a:t>
            </a:r>
            <a:r>
              <a:rPr kumimoji="1" lang="en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AAAI</a:t>
            </a:r>
            <a:r>
              <a:rPr kumimoji="1" lang="en-US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)</a:t>
            </a:r>
            <a:r>
              <a:rPr kumimoji="1" lang="zh-CN" altLang="e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，</a:t>
            </a:r>
            <a:r>
              <a:rPr kumimoji="1" lang="zh-CN" altLang="en-US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在投</a:t>
            </a:r>
            <a:r>
              <a:rPr kumimoji="1" lang="en-US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2</a:t>
            </a:r>
            <a:r>
              <a:rPr kumimoji="1" lang="zh-CN" altLang="en-US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篇</a:t>
            </a:r>
            <a:r>
              <a:rPr kumimoji="1" lang="en-US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 (</a:t>
            </a:r>
            <a:r>
              <a:rPr kumimoji="1" lang="en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ECCV</a:t>
            </a:r>
            <a:r>
              <a:rPr kumimoji="1" lang="en-US" altLang="zh-CN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 ICML) </a:t>
            </a:r>
            <a:endParaRPr kumimoji="1" lang="zh-CN" altLang="en-US" sz="2400" dirty="0">
              <a:latin typeface="Apple Braille" pitchFamily="2" charset="0"/>
              <a:ea typeface="Kaiti SC" panose="02010600040101010101" pitchFamily="2" charset="-122"/>
            </a:endParaRPr>
          </a:p>
          <a:p>
            <a:pPr>
              <a:buFont typeface="Wingdings" pitchFamily="2" charset="2"/>
              <a:buChar char="p"/>
            </a:pP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 </a:t>
            </a:r>
            <a:r>
              <a:rPr kumimoji="1" lang="zh-CN" altLang="en-US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腾讯优图青云计划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、阿里、百度、京东、昆仑万维算法实习</a:t>
            </a:r>
            <a:endParaRPr kumimoji="1" lang="en-US" altLang="zh-CN" sz="2400" dirty="0">
              <a:latin typeface="Apple Braille" pitchFamily="2" charset="0"/>
              <a:ea typeface="Kaiti SC" panose="02010600040101010101" pitchFamily="2" charset="-122"/>
            </a:endParaRPr>
          </a:p>
          <a:p>
            <a:pPr>
              <a:buFont typeface="Wingdings" pitchFamily="2" charset="2"/>
              <a:buChar char="p"/>
            </a:pP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 学术科普 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|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 </a:t>
            </a:r>
            <a:r>
              <a:rPr kumimoji="1" lang="en-US" altLang="zh-CN" sz="2400" dirty="0" err="1">
                <a:latin typeface="Apple Braille" pitchFamily="2" charset="0"/>
                <a:ea typeface="Kaiti SC" panose="02010600040101010101" pitchFamily="2" charset="-122"/>
              </a:rPr>
              <a:t>PaperABC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 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1.3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万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+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关注、总播放量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28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万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+</a:t>
            </a:r>
            <a:endParaRPr kumimoji="1" lang="zh-CN" altLang="en-US" sz="2400" dirty="0">
              <a:latin typeface="Apple Braille" pitchFamily="2" charset="0"/>
              <a:ea typeface="Kaiti SC" panose="02010600040101010101" pitchFamily="2" charset="-122"/>
            </a:endParaRPr>
          </a:p>
          <a:p>
            <a:pPr>
              <a:buFont typeface="Wingdings" pitchFamily="2" charset="2"/>
              <a:buChar char="p"/>
            </a:pPr>
            <a:endParaRPr kumimoji="1" lang="zh-CN" altLang="en-US" sz="2400" dirty="0">
              <a:latin typeface="Apple Braille" pitchFamily="2" charset="0"/>
              <a:ea typeface="Kaiti SC" panose="02010600040101010101" pitchFamily="2" charset="-122"/>
            </a:endParaRPr>
          </a:p>
          <a:p>
            <a:pPr>
              <a:buFont typeface="Wingdings" pitchFamily="2" charset="2"/>
              <a:buChar char="p"/>
            </a:pPr>
            <a:endParaRPr kumimoji="1" lang="zh-CN" altLang="en-US" sz="2400" dirty="0">
              <a:latin typeface="Apple Braille" pitchFamily="2" charset="0"/>
              <a:ea typeface="Kaiti SC" panose="0201060004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79772E-2BF6-8B62-96F0-1F80704A06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147"/>
          <a:stretch>
            <a:fillRect/>
          </a:stretch>
        </p:blipFill>
        <p:spPr>
          <a:xfrm>
            <a:off x="9712237" y="1549670"/>
            <a:ext cx="2107058" cy="2873567"/>
          </a:xfrm>
          <a:prstGeom prst="rect">
            <a:avLst/>
          </a:prstGeom>
        </p:spPr>
      </p:pic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CBBC61CB-2BC6-1224-F902-8130F5E33AFB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BBD868-5F15-D9B1-1D8D-2E9E5E6D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8265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F77F4-90CF-1A21-9574-3400AF25F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Kaiti SC" panose="02010600040101010101" pitchFamily="2" charset="-122"/>
                <a:ea typeface="Kaiti SC" panose="02010600040101010101" pitchFamily="2" charset="-122"/>
              </a:rPr>
              <a:t>过往研究工作</a:t>
            </a: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6712F5DF-DBC6-E5D9-C548-0C96C4F06FF0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F3DC7EF3-65D5-D3D2-DFA0-93F6AC1FE151}"/>
              </a:ext>
            </a:extLst>
          </p:cNvPr>
          <p:cNvSpPr txBox="1"/>
          <p:nvPr/>
        </p:nvSpPr>
        <p:spPr>
          <a:xfrm>
            <a:off x="5140823" y="1556978"/>
            <a:ext cx="14157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noFill/>
            <a:prstDash val="dash"/>
          </a:ln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latin typeface="Kaiti SC" panose="02010600040101010101" pitchFamily="2" charset="-122"/>
                <a:ea typeface="Kaiti SC" panose="02010600040101010101" pitchFamily="2" charset="-122"/>
              </a:rPr>
              <a:t>风格迁移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150CE6-4735-A53D-5859-350066BF8341}"/>
              </a:ext>
            </a:extLst>
          </p:cNvPr>
          <p:cNvSpPr txBox="1"/>
          <p:nvPr/>
        </p:nvSpPr>
        <p:spPr>
          <a:xfrm>
            <a:off x="5224978" y="4287536"/>
            <a:ext cx="2321469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  <a:prstDash val="dash"/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Kaiti SC" panose="02010600040101010101" pitchFamily="2" charset="-122"/>
                <a:ea typeface="Kaiti SC" panose="02010600040101010101" pitchFamily="2" charset="-122"/>
              </a:rPr>
              <a:t>SVG</a:t>
            </a:r>
            <a:r>
              <a:rPr kumimoji="1" lang="zh-CN" altLang="en-US" sz="2400" b="1" dirty="0">
                <a:latin typeface="Kaiti SC" panose="02010600040101010101" pitchFamily="2" charset="-122"/>
                <a:ea typeface="Kaiti SC" panose="02010600040101010101" pitchFamily="2" charset="-122"/>
              </a:rPr>
              <a:t>生成与编辑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A6428A-B44D-01A7-3020-98B816A3DD48}"/>
              </a:ext>
            </a:extLst>
          </p:cNvPr>
          <p:cNvSpPr txBox="1"/>
          <p:nvPr/>
        </p:nvSpPr>
        <p:spPr>
          <a:xfrm>
            <a:off x="8736316" y="4209495"/>
            <a:ext cx="2339102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noFill/>
            <a:prstDash val="dash"/>
          </a:ln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latin typeface="Kaiti SC" panose="02010600040101010101" pitchFamily="2" charset="-122"/>
                <a:ea typeface="Kaiti SC" panose="02010600040101010101" pitchFamily="2" charset="-122"/>
              </a:rPr>
              <a:t>风格化字体生成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E266E64-8A4A-071A-FBC5-602E520862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827"/>
          <a:stretch>
            <a:fillRect/>
          </a:stretch>
        </p:blipFill>
        <p:spPr>
          <a:xfrm>
            <a:off x="931654" y="2354343"/>
            <a:ext cx="2838090" cy="144319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248615B-E3EA-17FE-4F62-6BC11C25D3B0}"/>
              </a:ext>
            </a:extLst>
          </p:cNvPr>
          <p:cNvSpPr txBox="1"/>
          <p:nvPr/>
        </p:nvSpPr>
        <p:spPr>
          <a:xfrm>
            <a:off x="1536946" y="2015789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1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标志性</a:t>
            </a:r>
            <a:r>
              <a:rPr kumimoji="1" lang="zh-CN" altLang="en-US" sz="1600" dirty="0">
                <a:latin typeface="Kaiti SC" panose="02010600040101010101" pitchFamily="2" charset="-122"/>
                <a:ea typeface="Kaiti SC" panose="02010600040101010101" pitchFamily="2" charset="-122"/>
              </a:rPr>
              <a:t>风格迁移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EB59340-7C1C-A9BD-2C3B-A64CE1D44D25}"/>
              </a:ext>
            </a:extLst>
          </p:cNvPr>
          <p:cNvSpPr txBox="1"/>
          <p:nvPr/>
        </p:nvSpPr>
        <p:spPr>
          <a:xfrm>
            <a:off x="1274922" y="3735673"/>
            <a:ext cx="2183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 err="1">
                <a:latin typeface="Apple Braille" pitchFamily="2" charset="0"/>
              </a:rPr>
              <a:t>SigStyle</a:t>
            </a:r>
            <a:r>
              <a:rPr kumimoji="1" lang="en-US" altLang="zh-CN" dirty="0">
                <a:latin typeface="Apple Braille" pitchFamily="2" charset="0"/>
              </a:rPr>
              <a:t>,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AAAI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2025</a:t>
            </a:r>
            <a:endParaRPr kumimoji="1" lang="zh-CN" altLang="en-US" dirty="0">
              <a:latin typeface="Apple Braille" pitchFamily="2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FD976B4-73E4-669B-1887-BA8769E6B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6315" y="2313721"/>
            <a:ext cx="2838091" cy="146257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15E40AE-3F29-BC74-0C3B-3FB7A9EE7A1E}"/>
              </a:ext>
            </a:extLst>
          </p:cNvPr>
          <p:cNvSpPr txBox="1"/>
          <p:nvPr/>
        </p:nvSpPr>
        <p:spPr>
          <a:xfrm>
            <a:off x="4666134" y="3735673"/>
            <a:ext cx="2462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 err="1">
                <a:latin typeface="Apple Braille" pitchFamily="2" charset="0"/>
              </a:rPr>
              <a:t>OmniStyle</a:t>
            </a:r>
            <a:r>
              <a:rPr kumimoji="1" lang="en-US" altLang="zh-CN" dirty="0">
                <a:latin typeface="Apple Braille" pitchFamily="2" charset="0"/>
              </a:rPr>
              <a:t>,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CVPR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2025</a:t>
            </a:r>
            <a:endParaRPr kumimoji="1" lang="zh-CN" altLang="en-US" dirty="0">
              <a:latin typeface="Apple Braille" pitchFamily="2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8F78B95-C581-C034-BBF5-7AB510A7755D}"/>
              </a:ext>
            </a:extLst>
          </p:cNvPr>
          <p:cNvSpPr txBox="1"/>
          <p:nvPr/>
        </p:nvSpPr>
        <p:spPr>
          <a:xfrm>
            <a:off x="4782616" y="2015789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1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大规模可泛化</a:t>
            </a:r>
            <a:r>
              <a:rPr kumimoji="1" lang="zh-CN" altLang="en-US" sz="1600" dirty="0">
                <a:latin typeface="Kaiti SC" panose="02010600040101010101" pitchFamily="2" charset="-122"/>
                <a:ea typeface="Kaiti SC" panose="02010600040101010101" pitchFamily="2" charset="-122"/>
              </a:rPr>
              <a:t>风格迁移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90BCA44-20ED-F0C1-0C64-27669C2BFCDC}"/>
              </a:ext>
            </a:extLst>
          </p:cNvPr>
          <p:cNvSpPr txBox="1"/>
          <p:nvPr/>
        </p:nvSpPr>
        <p:spPr>
          <a:xfrm>
            <a:off x="8014703" y="3735673"/>
            <a:ext cx="3378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Apple Braille" pitchFamily="2" charset="0"/>
              </a:rPr>
              <a:t>OmniStyle2,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ECCV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2026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Review</a:t>
            </a:r>
            <a:endParaRPr kumimoji="1" lang="zh-CN" altLang="en-US" dirty="0">
              <a:latin typeface="Apple Braille" pitchFamily="2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28D96F5F-D3E4-884D-A4E2-C2C4475C8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4627" y="2359597"/>
            <a:ext cx="2073991" cy="137607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3820EC2-32A2-AFF4-F6BC-C7D407A0F8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6022" y="2354343"/>
            <a:ext cx="2073991" cy="1378641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E3F20A47-46A2-9D64-620E-AE265AD86E18}"/>
              </a:ext>
            </a:extLst>
          </p:cNvPr>
          <p:cNvSpPr txBox="1"/>
          <p:nvPr/>
        </p:nvSpPr>
        <p:spPr>
          <a:xfrm>
            <a:off x="8483106" y="2013100"/>
            <a:ext cx="24416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accent1"/>
                </a:solidFill>
                <a:latin typeface="Kaiti SC" panose="02010600040101010101" pitchFamily="2" charset="-122"/>
                <a:ea typeface="Kaiti SC" panose="02010600040101010101" pitchFamily="2" charset="-122"/>
              </a:rPr>
              <a:t>去风格化高保真</a:t>
            </a:r>
            <a:r>
              <a:rPr kumimoji="1" lang="zh-CN" altLang="en-US" sz="1600" dirty="0">
                <a:latin typeface="Kaiti SC" panose="02010600040101010101" pitchFamily="2" charset="-122"/>
                <a:ea typeface="Kaiti SC" panose="02010600040101010101" pitchFamily="2" charset="-122"/>
              </a:rPr>
              <a:t>风格迁移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5C4B2606-9A64-A7E1-83ED-F4C1214A053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06844" y="4873073"/>
            <a:ext cx="1137947" cy="114038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B2F481C-F47F-8A15-015C-8509CC3A1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921" y="4873073"/>
            <a:ext cx="1140389" cy="1140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A38B48C-7AC7-016E-2CA3-8EC5529FF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440" y="4873074"/>
            <a:ext cx="1140388" cy="1140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E8BD6FC-87B3-C924-3E33-67642EF90FA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33606"/>
          <a:stretch>
            <a:fillRect/>
          </a:stretch>
        </p:blipFill>
        <p:spPr>
          <a:xfrm>
            <a:off x="8736316" y="4795031"/>
            <a:ext cx="2339102" cy="1561319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301BBAD7-D0C7-0B19-CE7D-91A738C64115}"/>
              </a:ext>
            </a:extLst>
          </p:cNvPr>
          <p:cNvSpPr txBox="1"/>
          <p:nvPr/>
        </p:nvSpPr>
        <p:spPr>
          <a:xfrm>
            <a:off x="4997230" y="6013462"/>
            <a:ext cx="2785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Apple Braille" pitchFamily="2" charset="0"/>
              </a:rPr>
              <a:t>StructureSVG</a:t>
            </a:r>
            <a:r>
              <a:rPr kumimoji="1" lang="en-US" altLang="zh-CN" dirty="0">
                <a:latin typeface="Apple Braille" pitchFamily="2" charset="0"/>
              </a:rPr>
              <a:t>,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NIPS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Ready</a:t>
            </a:r>
            <a:endParaRPr kumimoji="1" lang="zh-CN" altLang="en-US" dirty="0">
              <a:latin typeface="Apple Braille" pitchFamily="2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E448000-DF6C-983C-DA0B-BAC948A79195}"/>
              </a:ext>
            </a:extLst>
          </p:cNvPr>
          <p:cNvSpPr txBox="1"/>
          <p:nvPr/>
        </p:nvSpPr>
        <p:spPr>
          <a:xfrm>
            <a:off x="8637700" y="6314862"/>
            <a:ext cx="2536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 err="1">
                <a:latin typeface="Apple Braille" pitchFamily="2" charset="0"/>
              </a:rPr>
              <a:t>FontVerse</a:t>
            </a:r>
            <a:r>
              <a:rPr kumimoji="1" lang="en-US" altLang="zh-CN" dirty="0">
                <a:latin typeface="Apple Braille" pitchFamily="2" charset="0"/>
              </a:rPr>
              <a:t> ,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NIPS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Ready</a:t>
            </a:r>
            <a:endParaRPr kumimoji="1" lang="zh-CN" altLang="en-US" dirty="0">
              <a:latin typeface="Apple Braille" pitchFamily="2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CBADEEF-60BE-05A3-7D73-4384D47BAE9F}"/>
              </a:ext>
            </a:extLst>
          </p:cNvPr>
          <p:cNvSpPr txBox="1"/>
          <p:nvPr/>
        </p:nvSpPr>
        <p:spPr>
          <a:xfrm>
            <a:off x="1037674" y="4222077"/>
            <a:ext cx="264687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  <a:prstDash val="dash"/>
          </a:ln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latin typeface="Kaiti SC" panose="02010600040101010101" pitchFamily="2" charset="-122"/>
                <a:ea typeface="Kaiti SC" panose="02010600040101010101" pitchFamily="2" charset="-122"/>
              </a:rPr>
              <a:t>统一模型的后训练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1E2B43A-B81C-5EFC-4787-50B5EC264E72}"/>
              </a:ext>
            </a:extLst>
          </p:cNvPr>
          <p:cNvSpPr txBox="1"/>
          <p:nvPr/>
        </p:nvSpPr>
        <p:spPr>
          <a:xfrm>
            <a:off x="1404617" y="6327444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Apple Braille" pitchFamily="2" charset="0"/>
              </a:rPr>
              <a:t>Intern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Research</a:t>
            </a:r>
            <a:endParaRPr kumimoji="1" lang="zh-CN" altLang="en-US" dirty="0">
              <a:latin typeface="Apple Braille" pitchFamily="2" charset="0"/>
            </a:endParaRPr>
          </a:p>
        </p:txBody>
      </p:sp>
      <p:sp>
        <p:nvSpPr>
          <p:cNvPr id="35" name="灯片编号占位符 34">
            <a:extLst>
              <a:ext uri="{FF2B5EF4-FFF2-40B4-BE49-F238E27FC236}">
                <a16:creationId xmlns:a16="http://schemas.microsoft.com/office/drawing/2014/main" id="{E5EA31CA-CD02-EDC2-E26D-E9CFB490D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002837F-F565-BE47-B786-19F536396D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13" y="4708441"/>
            <a:ext cx="4284858" cy="159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418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46EEC-C8A7-C139-479A-9B9B0C4B0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DB749-A44C-2A68-D48E-A18EB5814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Kaiti SC" panose="02010600040101010101" pitchFamily="2" charset="-122"/>
                <a:ea typeface="Kaiti SC" panose="02010600040101010101" pitchFamily="2" charset="-122"/>
                <a:cs typeface="Arial" panose="020B0604020202020204" pitchFamily="34" charset="0"/>
              </a:rPr>
              <a:t>风格迁移研究总结</a:t>
            </a:r>
            <a:endParaRPr kumimoji="1" lang="zh-CN" altLang="en-US" b="1" dirty="0">
              <a:latin typeface="Apple Braille" pitchFamily="2" charset="0"/>
              <a:ea typeface="Kaiti SC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2627A1A3-B9C8-EA47-6EDE-C04D33111297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2CC5F30C-ED26-31CD-4078-E1B5DB2F78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827"/>
          <a:stretch>
            <a:fillRect/>
          </a:stretch>
        </p:blipFill>
        <p:spPr>
          <a:xfrm>
            <a:off x="697470" y="2922967"/>
            <a:ext cx="2838090" cy="144319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F167D40-8C9B-E201-4995-F86485BBD498}"/>
              </a:ext>
            </a:extLst>
          </p:cNvPr>
          <p:cNvSpPr txBox="1"/>
          <p:nvPr/>
        </p:nvSpPr>
        <p:spPr>
          <a:xfrm>
            <a:off x="1302762" y="2584413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latin typeface="Kaiti SC" panose="02010600040101010101" pitchFamily="2" charset="-122"/>
                <a:ea typeface="Kaiti SC" panose="02010600040101010101" pitchFamily="2" charset="-122"/>
              </a:rPr>
              <a:t>标志性</a:t>
            </a:r>
            <a:r>
              <a:rPr kumimoji="1" lang="zh-CN" altLang="en-US" sz="1600" dirty="0">
                <a:latin typeface="Kaiti SC" panose="02010600040101010101" pitchFamily="2" charset="-122"/>
                <a:ea typeface="Kaiti SC" panose="02010600040101010101" pitchFamily="2" charset="-122"/>
              </a:rPr>
              <a:t>风格迁移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72549C-84E2-12EF-0AF9-4B9B0A5E82C1}"/>
              </a:ext>
            </a:extLst>
          </p:cNvPr>
          <p:cNvSpPr txBox="1"/>
          <p:nvPr/>
        </p:nvSpPr>
        <p:spPr>
          <a:xfrm>
            <a:off x="1040738" y="4304297"/>
            <a:ext cx="2183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 err="1">
                <a:latin typeface="Apple Braille" pitchFamily="2" charset="0"/>
              </a:rPr>
              <a:t>SigStyle</a:t>
            </a:r>
            <a:r>
              <a:rPr kumimoji="1" lang="en-US" altLang="zh-CN" dirty="0">
                <a:latin typeface="Apple Braille" pitchFamily="2" charset="0"/>
              </a:rPr>
              <a:t>,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AAAI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2025</a:t>
            </a:r>
            <a:endParaRPr kumimoji="1" lang="zh-CN" altLang="en-US" dirty="0">
              <a:latin typeface="Apple Braille" pitchFamily="2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4DD301F-C482-71B8-D8F0-F89758FAE900}"/>
              </a:ext>
            </a:extLst>
          </p:cNvPr>
          <p:cNvSpPr txBox="1"/>
          <p:nvPr/>
        </p:nvSpPr>
        <p:spPr>
          <a:xfrm>
            <a:off x="4911559" y="1957551"/>
            <a:ext cx="2133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kumimoji="1" lang="zh-CN" altLang="en-US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大规模可泛化</a:t>
            </a:r>
            <a:endParaRPr kumimoji="1" lang="en-US" altLang="zh-CN" sz="2400" b="1" dirty="0">
              <a:solidFill>
                <a:schemeClr val="accent1"/>
              </a:solidFill>
              <a:latin typeface="Apple Braille" pitchFamily="2" charset="0"/>
              <a:ea typeface="Kaiti SC" panose="0201060004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9F176BA-9436-7AAE-354F-D73F2583D07F}"/>
              </a:ext>
            </a:extLst>
          </p:cNvPr>
          <p:cNvSpPr txBox="1"/>
          <p:nvPr/>
        </p:nvSpPr>
        <p:spPr>
          <a:xfrm>
            <a:off x="908480" y="1957552"/>
            <a:ext cx="2416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kumimoji="1" lang="zh-CN" altLang="en-US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低训练成本</a:t>
            </a:r>
            <a:endParaRPr kumimoji="1" lang="en-US" altLang="zh-CN" sz="2400" b="1" dirty="0">
              <a:solidFill>
                <a:schemeClr val="accent1"/>
              </a:solidFill>
              <a:latin typeface="Apple Braille" pitchFamily="2" charset="0"/>
              <a:ea typeface="Kaiti SC" panose="0201060004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F04B489-FD4C-A0DA-F008-09129986F57E}"/>
              </a:ext>
            </a:extLst>
          </p:cNvPr>
          <p:cNvSpPr txBox="1"/>
          <p:nvPr/>
        </p:nvSpPr>
        <p:spPr>
          <a:xfrm>
            <a:off x="8632167" y="1957551"/>
            <a:ext cx="2133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kumimoji="1" lang="zh-CN" altLang="en-US" sz="2400" b="1" dirty="0">
                <a:solidFill>
                  <a:schemeClr val="accent1"/>
                </a:solidFill>
                <a:latin typeface="Apple Braille" pitchFamily="2" charset="0"/>
                <a:ea typeface="Kaiti SC" panose="02010600040101010101" pitchFamily="2" charset="-122"/>
              </a:rPr>
              <a:t>高质量高保真</a:t>
            </a:r>
            <a:endParaRPr kumimoji="1" lang="en-US" altLang="zh-CN" sz="2400" b="1" dirty="0">
              <a:solidFill>
                <a:schemeClr val="accent1"/>
              </a:solidFill>
              <a:latin typeface="Apple Braille" pitchFamily="2" charset="0"/>
              <a:ea typeface="Kaiti SC" panose="0201060004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68824D8-7F07-D8FA-E10B-88B493F28428}"/>
              </a:ext>
            </a:extLst>
          </p:cNvPr>
          <p:cNvSpPr txBox="1"/>
          <p:nvPr/>
        </p:nvSpPr>
        <p:spPr>
          <a:xfrm>
            <a:off x="541595" y="4796018"/>
            <a:ext cx="318228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latin typeface="Apple Braille" pitchFamily="2" charset="0"/>
                <a:ea typeface="Kaiti SC" panose="02010600040101010101" pitchFamily="2" charset="-122"/>
              </a:rPr>
              <a:t>单卡单图</a:t>
            </a:r>
            <a:r>
              <a:rPr kumimoji="1" lang="en-US" altLang="zh-CN" b="1" dirty="0">
                <a:latin typeface="Apple Braille" pitchFamily="2" charset="0"/>
                <a:ea typeface="Kaiti SC" panose="02010600040101010101" pitchFamily="2" charset="-122"/>
              </a:rPr>
              <a:t>10min</a:t>
            </a:r>
            <a:r>
              <a:rPr kumimoji="1" lang="zh-CN" altLang="en-US" b="1" dirty="0">
                <a:latin typeface="Apple Braille" pitchFamily="2" charset="0"/>
                <a:ea typeface="Kaiti SC" panose="02010600040101010101" pitchFamily="2" charset="-122"/>
              </a:rPr>
              <a:t>即可微调完毕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852AE02-F9FC-9AF6-73FC-B4D796B01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678" y="2885113"/>
            <a:ext cx="2838091" cy="1462574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FD3C3691-04FC-E06E-16B6-05B570AAF039}"/>
              </a:ext>
            </a:extLst>
          </p:cNvPr>
          <p:cNvSpPr txBox="1"/>
          <p:nvPr/>
        </p:nvSpPr>
        <p:spPr>
          <a:xfrm>
            <a:off x="4758497" y="4307065"/>
            <a:ext cx="2462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 err="1">
                <a:latin typeface="Apple Braille" pitchFamily="2" charset="0"/>
              </a:rPr>
              <a:t>OmniStyle</a:t>
            </a:r>
            <a:r>
              <a:rPr kumimoji="1" lang="en-US" altLang="zh-CN" dirty="0">
                <a:latin typeface="Apple Braille" pitchFamily="2" charset="0"/>
              </a:rPr>
              <a:t>,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CVPR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2025</a:t>
            </a:r>
            <a:endParaRPr kumimoji="1" lang="zh-CN" altLang="en-US" dirty="0">
              <a:latin typeface="Apple Braille" pitchFamily="2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E699730-F083-D25D-6BDD-F09A1602A54C}"/>
              </a:ext>
            </a:extLst>
          </p:cNvPr>
          <p:cNvSpPr txBox="1"/>
          <p:nvPr/>
        </p:nvSpPr>
        <p:spPr>
          <a:xfrm>
            <a:off x="4874979" y="2587181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latin typeface="Kaiti SC" panose="02010600040101010101" pitchFamily="2" charset="-122"/>
                <a:ea typeface="Kaiti SC" panose="02010600040101010101" pitchFamily="2" charset="-122"/>
              </a:rPr>
              <a:t>大规模可泛化</a:t>
            </a:r>
            <a:r>
              <a:rPr kumimoji="1" lang="zh-CN" altLang="en-US" sz="1600" dirty="0">
                <a:latin typeface="Kaiti SC" panose="02010600040101010101" pitchFamily="2" charset="-122"/>
                <a:ea typeface="Kaiti SC" panose="02010600040101010101" pitchFamily="2" charset="-122"/>
              </a:rPr>
              <a:t>风格迁移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5F8ABD7-2C2B-CC55-ECC7-D7CE56BCBEF8}"/>
              </a:ext>
            </a:extLst>
          </p:cNvPr>
          <p:cNvSpPr txBox="1"/>
          <p:nvPr/>
        </p:nvSpPr>
        <p:spPr>
          <a:xfrm>
            <a:off x="4484138" y="4796018"/>
            <a:ext cx="280717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latin typeface="Apple Braille" pitchFamily="2" charset="0"/>
                <a:ea typeface="Kaiti SC" panose="02010600040101010101" pitchFamily="2" charset="-122"/>
              </a:rPr>
              <a:t>支持</a:t>
            </a:r>
            <a:r>
              <a:rPr kumimoji="1" lang="en-US" altLang="zh-CN" b="1" dirty="0">
                <a:latin typeface="Apple Braille" pitchFamily="2" charset="0"/>
                <a:ea typeface="Kaiti SC" panose="02010600040101010101" pitchFamily="2" charset="-122"/>
              </a:rPr>
              <a:t>1000</a:t>
            </a:r>
            <a:r>
              <a:rPr kumimoji="1" lang="zh-CN" altLang="en-US" b="1" dirty="0">
                <a:latin typeface="Apple Braille" pitchFamily="2" charset="0"/>
                <a:ea typeface="Kaiti SC" panose="02010600040101010101" pitchFamily="2" charset="-122"/>
              </a:rPr>
              <a:t>种类别风格迁移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37FF8B8-EF9B-B7C8-BA50-D48CF0E13E39}"/>
              </a:ext>
            </a:extLst>
          </p:cNvPr>
          <p:cNvSpPr txBox="1"/>
          <p:nvPr/>
        </p:nvSpPr>
        <p:spPr>
          <a:xfrm>
            <a:off x="8009722" y="4304297"/>
            <a:ext cx="3378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Apple Braille" pitchFamily="2" charset="0"/>
              </a:rPr>
              <a:t>OmniStyle2,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ECCV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2026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Review</a:t>
            </a:r>
            <a:endParaRPr kumimoji="1" lang="zh-CN" altLang="en-US" dirty="0">
              <a:latin typeface="Apple Braille" pitchFamily="2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DFC823B6-98CD-F7FC-3F35-643C4B6B7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970" y="2928362"/>
            <a:ext cx="2073991" cy="1376076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0813061E-0D57-8444-4D3C-46F5AF5B9EC5}"/>
              </a:ext>
            </a:extLst>
          </p:cNvPr>
          <p:cNvSpPr txBox="1"/>
          <p:nvPr/>
        </p:nvSpPr>
        <p:spPr>
          <a:xfrm>
            <a:off x="8456195" y="2538616"/>
            <a:ext cx="24416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b="1" dirty="0">
                <a:latin typeface="Kaiti SC" panose="02010600040101010101" pitchFamily="2" charset="-122"/>
                <a:ea typeface="Kaiti SC" panose="02010600040101010101" pitchFamily="2" charset="-122"/>
              </a:rPr>
              <a:t>去风格化高保真</a:t>
            </a:r>
            <a:r>
              <a:rPr kumimoji="1" lang="zh-CN" altLang="en-US" sz="1600" dirty="0">
                <a:latin typeface="Kaiti SC" panose="02010600040101010101" pitchFamily="2" charset="-122"/>
                <a:ea typeface="Kaiti SC" panose="02010600040101010101" pitchFamily="2" charset="-122"/>
              </a:rPr>
              <a:t>风格迁移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CF24F4A-D862-077B-89B5-3D0A2BCF5104}"/>
              </a:ext>
            </a:extLst>
          </p:cNvPr>
          <p:cNvSpPr txBox="1"/>
          <p:nvPr/>
        </p:nvSpPr>
        <p:spPr>
          <a:xfrm>
            <a:off x="7750457" y="4796018"/>
            <a:ext cx="389702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b="1" dirty="0">
                <a:latin typeface="Apple Braille" pitchFamily="2" charset="0"/>
                <a:ea typeface="Kaiti SC" panose="02010600040101010101" pitchFamily="2" charset="-122"/>
              </a:rPr>
              <a:t>接近</a:t>
            </a:r>
            <a:r>
              <a:rPr kumimoji="1" lang="en-US" altLang="zh-CN" b="1" dirty="0">
                <a:latin typeface="Apple Braille" pitchFamily="2" charset="0"/>
                <a:ea typeface="Kaiti SC" panose="02010600040101010101" pitchFamily="2" charset="-122"/>
              </a:rPr>
              <a:t>Nano-banana-pro</a:t>
            </a:r>
            <a:r>
              <a:rPr kumimoji="1" lang="zh-CN" altLang="en-US" b="1" dirty="0">
                <a:latin typeface="Apple Braille" pitchFamily="2" charset="0"/>
                <a:ea typeface="Kaiti SC" panose="02010600040101010101" pitchFamily="2" charset="-122"/>
              </a:rPr>
              <a:t>的风格化性能</a:t>
            </a:r>
          </a:p>
        </p:txBody>
      </p:sp>
      <p:sp>
        <p:nvSpPr>
          <p:cNvPr id="29" name="灯片编号占位符 28">
            <a:extLst>
              <a:ext uri="{FF2B5EF4-FFF2-40B4-BE49-F238E27FC236}">
                <a16:creationId xmlns:a16="http://schemas.microsoft.com/office/drawing/2014/main" id="{54452CFE-FE4F-A380-B0E3-B857F224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7264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CE272-B884-2C86-9D87-DEDB2541F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AA8CF-336D-5175-E18B-EEAC5502D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Kaiti SC" panose="02010600040101010101" pitchFamily="2" charset="-122"/>
                <a:ea typeface="Kaiti SC" panose="02010600040101010101" pitchFamily="2" charset="-122"/>
                <a:cs typeface="Arial" panose="020B0604020202020204" pitchFamily="34" charset="0"/>
              </a:rPr>
              <a:t>近期正在进行的工作</a:t>
            </a:r>
            <a:endParaRPr kumimoji="1" lang="zh-CN" altLang="en-US" b="1" dirty="0">
              <a:latin typeface="Apple Braille" pitchFamily="2" charset="0"/>
              <a:ea typeface="Kaiti SC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5B0531BE-A383-D7DD-CE92-100B04BF2A78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灯片编号占位符 28">
            <a:extLst>
              <a:ext uri="{FF2B5EF4-FFF2-40B4-BE49-F238E27FC236}">
                <a16:creationId xmlns:a16="http://schemas.microsoft.com/office/drawing/2014/main" id="{F1AE70EE-8253-E8E4-95EC-8330A8FD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4</a:t>
            </a:fld>
            <a:endParaRPr kumimoji="1"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D8451BE-BD40-0542-7B40-5F898F07AA44}"/>
              </a:ext>
            </a:extLst>
          </p:cNvPr>
          <p:cNvGrpSpPr/>
          <p:nvPr/>
        </p:nvGrpSpPr>
        <p:grpSpPr>
          <a:xfrm>
            <a:off x="7748816" y="2062804"/>
            <a:ext cx="3604984" cy="2413825"/>
            <a:chOff x="2997004" y="4254718"/>
            <a:chExt cx="3604984" cy="241382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22DC5652-FA60-CE32-9D41-5683CDD068F2}"/>
                </a:ext>
              </a:extLst>
            </p:cNvPr>
            <p:cNvSpPr txBox="1"/>
            <p:nvPr/>
          </p:nvSpPr>
          <p:spPr>
            <a:xfrm>
              <a:off x="3682723" y="4254718"/>
              <a:ext cx="2321469" cy="46166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noFill/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b="1" dirty="0">
                  <a:latin typeface="Kaiti SC" panose="02010600040101010101" pitchFamily="2" charset="-122"/>
                  <a:ea typeface="Kaiti SC" panose="02010600040101010101" pitchFamily="2" charset="-122"/>
                </a:rPr>
                <a:t>SVG</a:t>
              </a:r>
              <a:r>
                <a:rPr kumimoji="1" lang="zh-CN" altLang="en-US" sz="2400" b="1" dirty="0">
                  <a:latin typeface="Kaiti SC" panose="02010600040101010101" pitchFamily="2" charset="-122"/>
                  <a:ea typeface="Kaiti SC" panose="02010600040101010101" pitchFamily="2" charset="-122"/>
                </a:rPr>
                <a:t>生成与编辑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FE71F87-934F-C2E0-2019-D4D49F4B8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997004" y="5158822"/>
              <a:ext cx="1137947" cy="1140389"/>
            </a:xfrm>
            <a:prstGeom prst="rect">
              <a:avLst/>
            </a:prstGeom>
          </p:spPr>
        </p:pic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93CE18A1-C3BC-B757-664D-F450042C8F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8081" y="5158822"/>
              <a:ext cx="1140389" cy="1140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4">
              <a:extLst>
                <a:ext uri="{FF2B5EF4-FFF2-40B4-BE49-F238E27FC236}">
                  <a16:creationId xmlns:a16="http://schemas.microsoft.com/office/drawing/2014/main" id="{1D7E448C-2E91-5540-82CA-5DFC1E1AAD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61600" y="5158823"/>
              <a:ext cx="1140388" cy="11403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F3F5003-32A3-C1D7-14B2-097BD6E89615}"/>
                </a:ext>
              </a:extLst>
            </p:cNvPr>
            <p:cNvSpPr txBox="1"/>
            <p:nvPr/>
          </p:nvSpPr>
          <p:spPr>
            <a:xfrm>
              <a:off x="3587390" y="6299211"/>
              <a:ext cx="2785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 err="1">
                  <a:latin typeface="Apple Braille" pitchFamily="2" charset="0"/>
                </a:rPr>
                <a:t>StructureSVG</a:t>
              </a:r>
              <a:r>
                <a:rPr kumimoji="1" lang="en-US" altLang="zh-CN" dirty="0">
                  <a:latin typeface="Apple Braille" pitchFamily="2" charset="0"/>
                </a:rPr>
                <a:t>,</a:t>
              </a:r>
              <a:r>
                <a:rPr kumimoji="1" lang="zh-CN" altLang="en-US" dirty="0">
                  <a:latin typeface="Apple Braille" pitchFamily="2" charset="0"/>
                </a:rPr>
                <a:t> </a:t>
              </a:r>
              <a:r>
                <a:rPr kumimoji="1" lang="en-US" altLang="zh-CN" dirty="0">
                  <a:latin typeface="Apple Braille" pitchFamily="2" charset="0"/>
                </a:rPr>
                <a:t>NIPS</a:t>
              </a:r>
              <a:r>
                <a:rPr kumimoji="1" lang="zh-CN" altLang="en-US" dirty="0">
                  <a:latin typeface="Apple Braille" pitchFamily="2" charset="0"/>
                </a:rPr>
                <a:t> </a:t>
              </a:r>
              <a:r>
                <a:rPr kumimoji="1" lang="en-US" altLang="zh-CN" dirty="0">
                  <a:latin typeface="Apple Braille" pitchFamily="2" charset="0"/>
                </a:rPr>
                <a:t>Ready</a:t>
              </a:r>
              <a:endParaRPr kumimoji="1" lang="zh-CN" altLang="en-US" dirty="0">
                <a:latin typeface="Apple Braille" pitchFamily="2" charset="0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2956281A-6E7C-CEDC-B971-1B2B1F3B28A5}"/>
              </a:ext>
            </a:extLst>
          </p:cNvPr>
          <p:cNvSpPr txBox="1"/>
          <p:nvPr/>
        </p:nvSpPr>
        <p:spPr>
          <a:xfrm>
            <a:off x="4738488" y="2062804"/>
            <a:ext cx="2339102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noFill/>
            <a:prstDash val="dash"/>
          </a:ln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latin typeface="Kaiti SC" panose="02010600040101010101" pitchFamily="2" charset="-122"/>
                <a:ea typeface="Kaiti SC" panose="02010600040101010101" pitchFamily="2" charset="-122"/>
              </a:rPr>
              <a:t>风格化字体生成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098ADE3-FB56-F46D-C781-9DBA2679452A}"/>
              </a:ext>
            </a:extLst>
          </p:cNvPr>
          <p:cNvSpPr txBox="1"/>
          <p:nvPr/>
        </p:nvSpPr>
        <p:spPr>
          <a:xfrm>
            <a:off x="4639872" y="4168171"/>
            <a:ext cx="2536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 err="1">
                <a:latin typeface="Apple Braille" pitchFamily="2" charset="0"/>
              </a:rPr>
              <a:t>FontVerse</a:t>
            </a:r>
            <a:r>
              <a:rPr kumimoji="1" lang="en-US" altLang="zh-CN" dirty="0">
                <a:latin typeface="Apple Braille" pitchFamily="2" charset="0"/>
              </a:rPr>
              <a:t> ,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NIPS</a:t>
            </a:r>
            <a:r>
              <a:rPr kumimoji="1" lang="zh-CN" altLang="en-US" dirty="0">
                <a:latin typeface="Apple Braille" pitchFamily="2" charset="0"/>
              </a:rPr>
              <a:t> </a:t>
            </a:r>
            <a:r>
              <a:rPr kumimoji="1" lang="en-US" altLang="zh-CN" dirty="0">
                <a:latin typeface="Apple Braille" pitchFamily="2" charset="0"/>
              </a:rPr>
              <a:t>Ready</a:t>
            </a:r>
            <a:endParaRPr kumimoji="1" lang="zh-CN" altLang="en-US" dirty="0">
              <a:latin typeface="Apple Braille" pitchFamily="2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F64BEE7-9176-0904-683B-5471A212FB29}"/>
              </a:ext>
            </a:extLst>
          </p:cNvPr>
          <p:cNvGrpSpPr/>
          <p:nvPr/>
        </p:nvGrpSpPr>
        <p:grpSpPr>
          <a:xfrm>
            <a:off x="33540" y="2062804"/>
            <a:ext cx="4284858" cy="2474699"/>
            <a:chOff x="-189724" y="4549736"/>
            <a:chExt cx="4284858" cy="2474699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91E064B1-A6C2-F44E-8BE8-3E329A3A4E53}"/>
                </a:ext>
              </a:extLst>
            </p:cNvPr>
            <p:cNvSpPr txBox="1"/>
            <p:nvPr/>
          </p:nvSpPr>
          <p:spPr>
            <a:xfrm>
              <a:off x="762537" y="4549736"/>
              <a:ext cx="2646878" cy="46166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noFill/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kumimoji="1" lang="zh-CN" altLang="en-US" sz="2400" b="1" dirty="0">
                  <a:latin typeface="Kaiti SC" panose="02010600040101010101" pitchFamily="2" charset="-122"/>
                  <a:ea typeface="Kaiti SC" panose="02010600040101010101" pitchFamily="2" charset="-122"/>
                </a:rPr>
                <a:t>统一模型的后训练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07B2790-C83B-4640-8D8C-C97EF3EE541B}"/>
                </a:ext>
              </a:extLst>
            </p:cNvPr>
            <p:cNvSpPr txBox="1"/>
            <p:nvPr/>
          </p:nvSpPr>
          <p:spPr>
            <a:xfrm>
              <a:off x="1301155" y="6655103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b="1" dirty="0">
                  <a:latin typeface="KaiTi" panose="02010609060101010101" pitchFamily="49" charset="-122"/>
                  <a:ea typeface="KaiTi" panose="02010609060101010101" pitchFamily="49" charset="-122"/>
                </a:rPr>
                <a:t>青云实习项目</a:t>
              </a:r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05B29471-8E28-5E2A-FCAA-1195C44B4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89724" y="5036100"/>
              <a:ext cx="4284858" cy="1599865"/>
            </a:xfrm>
            <a:prstGeom prst="rect">
              <a:avLst/>
            </a:prstGeom>
          </p:spPr>
        </p:pic>
      </p:grpSp>
      <p:pic>
        <p:nvPicPr>
          <p:cNvPr id="1028" name="Picture 4" descr="amber cabin rendered in Plush Toy with 002-abhayalibre">
            <a:extLst>
              <a:ext uri="{FF2B5EF4-FFF2-40B4-BE49-F238E27FC236}">
                <a16:creationId xmlns:a16="http://schemas.microsoft.com/office/drawing/2014/main" id="{6E294FA0-2402-2AE3-5E9D-1549C211D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525" y="2823470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ber cabin rendered in Kawaii Magical with 002-abhayalibre">
            <a:extLst>
              <a:ext uri="{FF2B5EF4-FFF2-40B4-BE49-F238E27FC236}">
                <a16:creationId xmlns:a16="http://schemas.microsoft.com/office/drawing/2014/main" id="{1C132ECD-3FCC-6AE2-63BE-2B9BD2775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112" y="2823470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411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CF551-D3B2-01E9-C045-44049651C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621A08-B7EB-DE8B-B5BA-10BE604A7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Apple Braille" pitchFamily="2" charset="0"/>
                <a:ea typeface="Kaiti SC" panose="02010600040101010101" pitchFamily="2" charset="-122"/>
                <a:cs typeface="Arial" panose="020B0604020202020204" pitchFamily="34" charset="0"/>
              </a:rPr>
              <a:t>UMM+Post-Training</a:t>
            </a:r>
            <a:endParaRPr kumimoji="1" lang="zh-CN" altLang="en-US" b="1" dirty="0">
              <a:latin typeface="Apple Braille" pitchFamily="2" charset="0"/>
              <a:ea typeface="Kaiti SC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289EB271-2019-3A5A-A784-A6EA45DC8910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D5128692-0174-BCDC-4395-29ADFC6DC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217"/>
            <a:ext cx="10515600" cy="979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SFT+RL</a:t>
            </a:r>
            <a:r>
              <a:rPr kumimoji="1" lang="zh-CN" altLang="en-US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 </a:t>
            </a:r>
            <a:r>
              <a:rPr kumimoji="1" lang="en-US" altLang="zh-CN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Post</a:t>
            </a:r>
            <a:r>
              <a:rPr kumimoji="1" lang="zh-CN" altLang="en-US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 </a:t>
            </a:r>
            <a:r>
              <a:rPr kumimoji="1" lang="en-US" altLang="zh-CN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Training</a:t>
            </a:r>
          </a:p>
          <a:p>
            <a:pPr marL="0" indent="0">
              <a:buNone/>
            </a:pPr>
            <a:r>
              <a:rPr kumimoji="1" lang="zh-CN" altLang="en-US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只用图像编辑数据，同时提升理解和编辑能力</a:t>
            </a:r>
            <a:endParaRPr kumimoji="1" lang="en-US" altLang="zh-CN" sz="2400" b="1" dirty="0">
              <a:solidFill>
                <a:srgbClr val="4472C4"/>
              </a:solidFill>
              <a:latin typeface="Apple Braille" pitchFamily="2" charset="0"/>
              <a:ea typeface="Kaiti SC" panose="02010600040101010101" pitchFamily="2" charset="-122"/>
            </a:endParaRPr>
          </a:p>
          <a:p>
            <a:pPr marL="0" indent="0">
              <a:buNone/>
            </a:pPr>
            <a:endParaRPr kumimoji="1" lang="en" altLang="zh-CN" sz="2400" b="1" dirty="0">
              <a:solidFill>
                <a:srgbClr val="4472C4"/>
              </a:solidFill>
              <a:latin typeface="Apple Braille" pitchFamily="2" charset="0"/>
              <a:ea typeface="Kaiti SC" panose="02010600040101010101" pitchFamily="2" charset="-122"/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41597128-0309-F3EE-B609-E7BC241C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57FD5C03-1D9D-5956-636C-53012CEF18A9}"/>
              </a:ext>
            </a:extLst>
          </p:cNvPr>
          <p:cNvSpPr/>
          <p:nvPr/>
        </p:nvSpPr>
        <p:spPr>
          <a:xfrm>
            <a:off x="1289547" y="4696794"/>
            <a:ext cx="3026956" cy="3562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latin typeface="Apple Braille" pitchFamily="2" charset="0"/>
                <a:ea typeface="KaiTi" panose="02010609060101010101" pitchFamily="49" charset="-122"/>
              </a:rPr>
              <a:t>统一理解与生成模型 </a:t>
            </a:r>
            <a:r>
              <a:rPr kumimoji="1" lang="en-US" altLang="zh-CN" sz="1200" b="1" dirty="0">
                <a:latin typeface="Apple Braille" pitchFamily="2" charset="0"/>
                <a:ea typeface="KaiTi" panose="02010609060101010101" pitchFamily="49" charset="-122"/>
              </a:rPr>
              <a:t>Bagel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2177F2-C86E-95A7-043F-03859C4A38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" t="19346" r="7666"/>
          <a:stretch>
            <a:fillRect/>
          </a:stretch>
        </p:blipFill>
        <p:spPr>
          <a:xfrm>
            <a:off x="2574073" y="5434341"/>
            <a:ext cx="594801" cy="6933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961B2B6-ED71-828B-A8EB-54F61DD09D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" t="19785" r="7689"/>
          <a:stretch>
            <a:fillRect/>
          </a:stretch>
        </p:blipFill>
        <p:spPr>
          <a:xfrm>
            <a:off x="3719979" y="3730078"/>
            <a:ext cx="596524" cy="6836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39256D2-67E4-09B7-DC4F-7EEDD5C6D18C}"/>
              </a:ext>
            </a:extLst>
          </p:cNvPr>
          <p:cNvSpPr txBox="1"/>
          <p:nvPr/>
        </p:nvSpPr>
        <p:spPr>
          <a:xfrm>
            <a:off x="3567823" y="5481330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" dirty="0">
                <a:latin typeface="KaiTi" panose="02010609060101010101" pitchFamily="49" charset="-122"/>
                <a:ea typeface="KaiTi" panose="02010609060101010101" pitchFamily="49" charset="-122"/>
              </a:rPr>
              <a:t>编辑</a:t>
            </a:r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指令</a:t>
            </a:r>
            <a:endParaRPr lang="en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4F4E0D5D-2B04-A51E-AFE4-31C605E0F555}"/>
              </a:ext>
            </a:extLst>
          </p:cNvPr>
          <p:cNvSpPr/>
          <p:nvPr/>
        </p:nvSpPr>
        <p:spPr>
          <a:xfrm rot="16200000">
            <a:off x="2761918" y="5120741"/>
            <a:ext cx="219118" cy="217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FC3A637A-9525-7EDD-A3D6-E644D1F2D9E0}"/>
              </a:ext>
            </a:extLst>
          </p:cNvPr>
          <p:cNvSpPr/>
          <p:nvPr/>
        </p:nvSpPr>
        <p:spPr>
          <a:xfrm rot="16200000">
            <a:off x="3781430" y="5117612"/>
            <a:ext cx="219118" cy="2172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DEA4C004-230F-734C-42E9-5F8AC5FDDA8A}"/>
              </a:ext>
            </a:extLst>
          </p:cNvPr>
          <p:cNvSpPr/>
          <p:nvPr/>
        </p:nvSpPr>
        <p:spPr>
          <a:xfrm rot="16200000">
            <a:off x="1848919" y="4439784"/>
            <a:ext cx="181818" cy="2172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4078309-6C99-062B-907F-38420D2FC8F9}"/>
              </a:ext>
            </a:extLst>
          </p:cNvPr>
          <p:cNvSpPr txBox="1"/>
          <p:nvPr/>
        </p:nvSpPr>
        <p:spPr>
          <a:xfrm>
            <a:off x="838200" y="4184266"/>
            <a:ext cx="22032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latin typeface="Apple Braille" pitchFamily="2" charset="0"/>
              </a:rPr>
              <a:t>Target Caption, Editing Steps</a:t>
            </a:r>
            <a:endParaRPr kumimoji="1" lang="zh-CN" altLang="en-US" sz="1100" b="1" dirty="0">
              <a:latin typeface="Apple Braille" pitchFamily="2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665A7AD-8299-4944-AB7B-B2DC1314D40E}"/>
              </a:ext>
            </a:extLst>
          </p:cNvPr>
          <p:cNvSpPr txBox="1"/>
          <p:nvPr/>
        </p:nvSpPr>
        <p:spPr>
          <a:xfrm>
            <a:off x="1558661" y="5501190"/>
            <a:ext cx="762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Apple Braille" pitchFamily="2" charset="0"/>
              </a:rPr>
              <a:t>System</a:t>
            </a:r>
          </a:p>
          <a:p>
            <a:pPr algn="ctr"/>
            <a:r>
              <a:rPr kumimoji="1" lang="en-US" altLang="zh-CN" sz="1400" dirty="0">
                <a:latin typeface="Apple Braille" pitchFamily="2" charset="0"/>
              </a:rPr>
              <a:t>Prompt</a:t>
            </a:r>
            <a:endParaRPr kumimoji="1" lang="zh-CN" altLang="en-US" sz="1400" dirty="0">
              <a:latin typeface="Apple Braille" pitchFamily="2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0EA64D-3DA6-4172-2003-64AE586E27B8}"/>
              </a:ext>
            </a:extLst>
          </p:cNvPr>
          <p:cNvSpPr txBox="1"/>
          <p:nvPr/>
        </p:nvSpPr>
        <p:spPr>
          <a:xfrm>
            <a:off x="1437322" y="3136612"/>
            <a:ext cx="971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理解侧</a:t>
            </a:r>
            <a:endParaRPr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en-US" altLang="zh-CN" sz="1600" dirty="0">
                <a:latin typeface="Apple Braille" pitchFamily="2" charset="0"/>
                <a:ea typeface="KaiTi" panose="02010609060101010101" pitchFamily="49" charset="-122"/>
              </a:rPr>
              <a:t>Thinking</a:t>
            </a:r>
            <a:endParaRPr lang="en" altLang="zh-CN" sz="1600" dirty="0">
              <a:latin typeface="Apple Braille" pitchFamily="2" charset="0"/>
              <a:ea typeface="KaiTi" panose="02010609060101010101" pitchFamily="49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5F8E30A-6B46-6C52-844F-FE7A2975F965}"/>
              </a:ext>
            </a:extLst>
          </p:cNvPr>
          <p:cNvSpPr txBox="1"/>
          <p:nvPr/>
        </p:nvSpPr>
        <p:spPr>
          <a:xfrm>
            <a:off x="3592021" y="3145303"/>
            <a:ext cx="8152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生成侧</a:t>
            </a:r>
            <a:endParaRPr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en-US" altLang="zh-CN" sz="1600" dirty="0">
                <a:latin typeface="Apple Braille" pitchFamily="2" charset="0"/>
                <a:ea typeface="KaiTi" panose="02010609060101010101" pitchFamily="49" charset="-122"/>
              </a:rPr>
              <a:t>Editing</a:t>
            </a:r>
            <a:endParaRPr lang="en" altLang="zh-CN" sz="1600" dirty="0">
              <a:latin typeface="Apple Braille" pitchFamily="2" charset="0"/>
              <a:ea typeface="KaiTi" panose="02010609060101010101" pitchFamily="49" charset="-122"/>
            </a:endParaRPr>
          </a:p>
        </p:txBody>
      </p:sp>
      <p:sp>
        <p:nvSpPr>
          <p:cNvPr id="24" name="右箭头 23">
            <a:extLst>
              <a:ext uri="{FF2B5EF4-FFF2-40B4-BE49-F238E27FC236}">
                <a16:creationId xmlns:a16="http://schemas.microsoft.com/office/drawing/2014/main" id="{160FEAFD-31D7-C492-B87F-C311CF3E1AF7}"/>
              </a:ext>
            </a:extLst>
          </p:cNvPr>
          <p:cNvSpPr/>
          <p:nvPr/>
        </p:nvSpPr>
        <p:spPr>
          <a:xfrm rot="16200000">
            <a:off x="3927333" y="4439782"/>
            <a:ext cx="181820" cy="2172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右箭头 24">
            <a:extLst>
              <a:ext uri="{FF2B5EF4-FFF2-40B4-BE49-F238E27FC236}">
                <a16:creationId xmlns:a16="http://schemas.microsoft.com/office/drawing/2014/main" id="{374101E8-6332-FCE8-3347-B32FAA14870D}"/>
              </a:ext>
            </a:extLst>
          </p:cNvPr>
          <p:cNvSpPr/>
          <p:nvPr/>
        </p:nvSpPr>
        <p:spPr>
          <a:xfrm rot="16200000">
            <a:off x="1830269" y="5117613"/>
            <a:ext cx="219118" cy="217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8A00B5D-CA10-0755-9D52-2C81C7D2EEDD}"/>
              </a:ext>
            </a:extLst>
          </p:cNvPr>
          <p:cNvSpPr txBox="1"/>
          <p:nvPr/>
        </p:nvSpPr>
        <p:spPr>
          <a:xfrm>
            <a:off x="2430931" y="2835425"/>
            <a:ext cx="109837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pple Braille" pitchFamily="2" charset="0"/>
                <a:ea typeface="KaiTi" panose="02010609060101010101" pitchFamily="49" charset="-122"/>
              </a:rPr>
              <a:t>SFT</a:t>
            </a:r>
            <a:r>
              <a:rPr kumimoji="1" lang="zh-CN" altLang="en-US" dirty="0">
                <a:latin typeface="Apple Braille" pitchFamily="2" charset="0"/>
                <a:ea typeface="KaiTi" panose="02010609060101010101" pitchFamily="49" charset="-122"/>
              </a:rPr>
              <a:t> 范式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4A1CD5F-19E5-FC3C-A5DF-C53AEAB9A2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" t="19785" r="7689"/>
          <a:stretch>
            <a:fillRect/>
          </a:stretch>
        </p:blipFill>
        <p:spPr>
          <a:xfrm>
            <a:off x="8998552" y="3388270"/>
            <a:ext cx="596524" cy="68361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534F06F-04A9-8D9B-ED4D-0A7BFBE2BF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" t="19346" r="7666"/>
          <a:stretch>
            <a:fillRect/>
          </a:stretch>
        </p:blipFill>
        <p:spPr>
          <a:xfrm>
            <a:off x="7092609" y="3383417"/>
            <a:ext cx="594801" cy="69332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79E03774-ABAB-8630-39CE-8539A2C7A896}"/>
              </a:ext>
            </a:extLst>
          </p:cNvPr>
          <p:cNvSpPr txBox="1"/>
          <p:nvPr/>
        </p:nvSpPr>
        <p:spPr>
          <a:xfrm>
            <a:off x="8019815" y="3428999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" dirty="0">
                <a:latin typeface="KaiTi" panose="02010609060101010101" pitchFamily="49" charset="-122"/>
                <a:ea typeface="KaiTi" panose="02010609060101010101" pitchFamily="49" charset="-122"/>
              </a:rPr>
              <a:t>编辑</a:t>
            </a:r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指令</a:t>
            </a:r>
            <a:endParaRPr lang="en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F73826-5756-782B-902D-136D2331D6D8}"/>
              </a:ext>
            </a:extLst>
          </p:cNvPr>
          <p:cNvSpPr txBox="1"/>
          <p:nvPr/>
        </p:nvSpPr>
        <p:spPr>
          <a:xfrm>
            <a:off x="7629895" y="2835425"/>
            <a:ext cx="15600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pple Braille" pitchFamily="2" charset="0"/>
                <a:ea typeface="KaiTi" panose="02010609060101010101" pitchFamily="49" charset="-122"/>
              </a:rPr>
              <a:t>SFT</a:t>
            </a:r>
            <a:r>
              <a:rPr kumimoji="1" lang="zh-CN" altLang="en-US" dirty="0">
                <a:latin typeface="Apple Braille" pitchFamily="2" charset="0"/>
                <a:ea typeface="KaiTi" panose="02010609060101010101" pitchFamily="49" charset="-122"/>
              </a:rPr>
              <a:t> 数据制作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A0F87022-7D15-707E-DB9A-F12DE8B835A1}"/>
              </a:ext>
            </a:extLst>
          </p:cNvPr>
          <p:cNvSpPr/>
          <p:nvPr/>
        </p:nvSpPr>
        <p:spPr>
          <a:xfrm>
            <a:off x="6829502" y="4580707"/>
            <a:ext cx="3026956" cy="3562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pple Braille" pitchFamily="2" charset="0"/>
                <a:ea typeface="KaiTi" panose="02010609060101010101" pitchFamily="49" charset="-122"/>
              </a:rPr>
              <a:t>VLM-Qwen35-122B-A10B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ED40676C-6ADE-2F9F-8C37-23B0EB837885}"/>
              </a:ext>
            </a:extLst>
          </p:cNvPr>
          <p:cNvCxnSpPr>
            <a:stCxn id="15" idx="2"/>
          </p:cNvCxnSpPr>
          <p:nvPr/>
        </p:nvCxnSpPr>
        <p:spPr>
          <a:xfrm flipH="1">
            <a:off x="7390009" y="4076737"/>
            <a:ext cx="1" cy="50397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05B2CEE1-7F4C-F2A2-6D19-58BDCB3E1B66}"/>
              </a:ext>
            </a:extLst>
          </p:cNvPr>
          <p:cNvCxnSpPr/>
          <p:nvPr/>
        </p:nvCxnSpPr>
        <p:spPr>
          <a:xfrm flipH="1">
            <a:off x="8342979" y="4063086"/>
            <a:ext cx="1" cy="50397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8BC89E54-EF1B-1DE6-F2AB-2AF244B4B36E}"/>
              </a:ext>
            </a:extLst>
          </p:cNvPr>
          <p:cNvCxnSpPr/>
          <p:nvPr/>
        </p:nvCxnSpPr>
        <p:spPr>
          <a:xfrm flipH="1">
            <a:off x="7513189" y="4944592"/>
            <a:ext cx="1" cy="50397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CCBE4B30-531C-0228-BC63-7887589E55F0}"/>
              </a:ext>
            </a:extLst>
          </p:cNvPr>
          <p:cNvSpPr txBox="1"/>
          <p:nvPr/>
        </p:nvSpPr>
        <p:spPr>
          <a:xfrm>
            <a:off x="6411565" y="5385042"/>
            <a:ext cx="22032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latin typeface="Apple Braille" pitchFamily="2" charset="0"/>
              </a:rPr>
              <a:t>Editing Steps</a:t>
            </a:r>
            <a:endParaRPr kumimoji="1" lang="zh-CN" altLang="en-US" sz="1100" b="1" dirty="0">
              <a:latin typeface="Apple Braille" pitchFamily="2" charset="0"/>
            </a:endParaRPr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50BADA7A-5627-23FA-20C5-8244ACB470F6}"/>
              </a:ext>
            </a:extLst>
          </p:cNvPr>
          <p:cNvCxnSpPr/>
          <p:nvPr/>
        </p:nvCxnSpPr>
        <p:spPr>
          <a:xfrm flipH="1">
            <a:off x="9295949" y="4077480"/>
            <a:ext cx="1" cy="503970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CFBF9FEE-306A-3973-3A74-740F2B50A89C}"/>
              </a:ext>
            </a:extLst>
          </p:cNvPr>
          <p:cNvCxnSpPr/>
          <p:nvPr/>
        </p:nvCxnSpPr>
        <p:spPr>
          <a:xfrm flipH="1">
            <a:off x="9117698" y="4944592"/>
            <a:ext cx="1" cy="503970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288D33BF-D14F-627B-8092-4F547DF5E414}"/>
              </a:ext>
            </a:extLst>
          </p:cNvPr>
          <p:cNvSpPr txBox="1"/>
          <p:nvPr/>
        </p:nvSpPr>
        <p:spPr>
          <a:xfrm>
            <a:off x="8570909" y="5385042"/>
            <a:ext cx="11825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latin typeface="Apple Braille" pitchFamily="2" charset="0"/>
              </a:rPr>
              <a:t>Target Caption</a:t>
            </a:r>
            <a:endParaRPr kumimoji="1" lang="zh-CN" altLang="en-US" sz="1100" b="1" dirty="0">
              <a:latin typeface="Apple Braill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87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3AF76-AF85-3BDF-2BE1-EEBA0328A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A8CEB1-1E50-2DF8-9A1C-25E4538B4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Apple Braille" pitchFamily="2" charset="0"/>
                <a:ea typeface="Kaiti SC" panose="02010600040101010101" pitchFamily="2" charset="-122"/>
                <a:cs typeface="Arial" panose="020B0604020202020204" pitchFamily="34" charset="0"/>
              </a:rPr>
              <a:t>UMM+Post-Training</a:t>
            </a:r>
            <a:endParaRPr kumimoji="1" lang="zh-CN" altLang="en-US" b="1" dirty="0">
              <a:latin typeface="Apple Braille" pitchFamily="2" charset="0"/>
              <a:ea typeface="Kaiti SC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CE961380-5BFE-FA5E-9508-5918663EE286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B8774B8E-ADC1-FD98-E309-A5553AD89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217"/>
            <a:ext cx="10515600" cy="979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SFT+RL</a:t>
            </a:r>
            <a:r>
              <a:rPr kumimoji="1" lang="zh-CN" altLang="en-US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 </a:t>
            </a:r>
            <a:r>
              <a:rPr kumimoji="1" lang="en-US" altLang="zh-CN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Post</a:t>
            </a:r>
            <a:r>
              <a:rPr kumimoji="1" lang="zh-CN" altLang="en-US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 </a:t>
            </a:r>
            <a:r>
              <a:rPr kumimoji="1" lang="en-US" altLang="zh-CN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Training</a:t>
            </a:r>
          </a:p>
          <a:p>
            <a:pPr marL="0" indent="0">
              <a:buNone/>
            </a:pPr>
            <a:r>
              <a:rPr kumimoji="1" lang="zh-CN" altLang="en-US" sz="2400" b="1" dirty="0">
                <a:solidFill>
                  <a:srgbClr val="4472C4"/>
                </a:solidFill>
                <a:latin typeface="Apple Braille" pitchFamily="2" charset="0"/>
                <a:ea typeface="Kaiti SC" panose="02010600040101010101" pitchFamily="2" charset="-122"/>
              </a:rPr>
              <a:t>只用图像编辑数据，同时提升理解和编辑能力</a:t>
            </a:r>
            <a:endParaRPr kumimoji="1" lang="en-US" altLang="zh-CN" sz="2400" b="1" dirty="0">
              <a:solidFill>
                <a:srgbClr val="4472C4"/>
              </a:solidFill>
              <a:latin typeface="Apple Braille" pitchFamily="2" charset="0"/>
              <a:ea typeface="Kaiti SC" panose="02010600040101010101" pitchFamily="2" charset="-122"/>
            </a:endParaRPr>
          </a:p>
          <a:p>
            <a:pPr marL="0" indent="0">
              <a:buNone/>
            </a:pPr>
            <a:endParaRPr kumimoji="1" lang="en" altLang="zh-CN" sz="2400" b="1" dirty="0">
              <a:solidFill>
                <a:srgbClr val="4472C4"/>
              </a:solidFill>
              <a:latin typeface="Apple Braille" pitchFamily="2" charset="0"/>
              <a:ea typeface="Kaiti SC" panose="02010600040101010101" pitchFamily="2" charset="-122"/>
            </a:endParaRPr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37F0C38F-33B4-056E-D211-7DB13A5D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7BD1709C-AE7A-F2C1-B668-203A59A2AF00}"/>
              </a:ext>
            </a:extLst>
          </p:cNvPr>
          <p:cNvSpPr/>
          <p:nvPr/>
        </p:nvSpPr>
        <p:spPr>
          <a:xfrm>
            <a:off x="1019555" y="4680589"/>
            <a:ext cx="3026956" cy="3562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pple Braille" pitchFamily="2" charset="0"/>
              </a:rPr>
              <a:t>UMM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8E03CA42-1F88-43BE-23CD-5D1EC57A40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" t="19346" r="7666"/>
          <a:stretch>
            <a:fillRect/>
          </a:stretch>
        </p:blipFill>
        <p:spPr>
          <a:xfrm>
            <a:off x="2304081" y="5418136"/>
            <a:ext cx="594801" cy="693320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7337C3FA-1D3C-7A60-2974-84BBFEE5F26A}"/>
              </a:ext>
            </a:extLst>
          </p:cNvPr>
          <p:cNvSpPr txBox="1"/>
          <p:nvPr/>
        </p:nvSpPr>
        <p:spPr>
          <a:xfrm>
            <a:off x="3297831" y="546512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" dirty="0">
                <a:latin typeface="KaiTi" panose="02010609060101010101" pitchFamily="49" charset="-122"/>
                <a:ea typeface="KaiTi" panose="02010609060101010101" pitchFamily="49" charset="-122"/>
              </a:rPr>
              <a:t>编辑</a:t>
            </a:r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指令</a:t>
            </a:r>
            <a:endParaRPr lang="en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3" name="右箭头 32">
            <a:extLst>
              <a:ext uri="{FF2B5EF4-FFF2-40B4-BE49-F238E27FC236}">
                <a16:creationId xmlns:a16="http://schemas.microsoft.com/office/drawing/2014/main" id="{7C67CB36-1AE5-D0E5-BA36-4AD18235F41C}"/>
              </a:ext>
            </a:extLst>
          </p:cNvPr>
          <p:cNvSpPr/>
          <p:nvPr/>
        </p:nvSpPr>
        <p:spPr>
          <a:xfrm rot="16200000">
            <a:off x="2491926" y="5104536"/>
            <a:ext cx="219118" cy="217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右箭头 33">
            <a:extLst>
              <a:ext uri="{FF2B5EF4-FFF2-40B4-BE49-F238E27FC236}">
                <a16:creationId xmlns:a16="http://schemas.microsoft.com/office/drawing/2014/main" id="{174DA1D1-E205-D179-74FB-677E19C5F9F0}"/>
              </a:ext>
            </a:extLst>
          </p:cNvPr>
          <p:cNvSpPr/>
          <p:nvPr/>
        </p:nvSpPr>
        <p:spPr>
          <a:xfrm rot="16200000">
            <a:off x="3511438" y="5101407"/>
            <a:ext cx="219118" cy="2172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右箭头 34">
            <a:extLst>
              <a:ext uri="{FF2B5EF4-FFF2-40B4-BE49-F238E27FC236}">
                <a16:creationId xmlns:a16="http://schemas.microsoft.com/office/drawing/2014/main" id="{2BE7F0D5-A980-051E-08A5-EE74A415CD4D}"/>
              </a:ext>
            </a:extLst>
          </p:cNvPr>
          <p:cNvSpPr/>
          <p:nvPr/>
        </p:nvSpPr>
        <p:spPr>
          <a:xfrm rot="16200000">
            <a:off x="1578927" y="4423579"/>
            <a:ext cx="181818" cy="2172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B8BC09C-E934-73AD-48B4-C49B5FA55FE2}"/>
              </a:ext>
            </a:extLst>
          </p:cNvPr>
          <p:cNvSpPr txBox="1"/>
          <p:nvPr/>
        </p:nvSpPr>
        <p:spPr>
          <a:xfrm>
            <a:off x="0" y="4409074"/>
            <a:ext cx="22032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latin typeface="Apple Braille" pitchFamily="2" charset="0"/>
              </a:rPr>
              <a:t>Text</a:t>
            </a:r>
            <a:r>
              <a:rPr kumimoji="1" lang="zh-CN" altLang="en-US" sz="1100" b="1" dirty="0">
                <a:latin typeface="Apple Braille" pitchFamily="2" charset="0"/>
              </a:rPr>
              <a:t> </a:t>
            </a:r>
            <a:r>
              <a:rPr kumimoji="1" lang="en-US" altLang="zh-CN" sz="1100" b="1" dirty="0">
                <a:latin typeface="Apple Braille" pitchFamily="2" charset="0"/>
              </a:rPr>
              <a:t>Rollout</a:t>
            </a:r>
            <a:endParaRPr kumimoji="1" lang="zh-CN" altLang="en-US" sz="1100" b="1" dirty="0">
              <a:latin typeface="Apple Braille" pitchFamily="2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95FD11C-36F8-8CD5-E023-1D9E4356F4FD}"/>
              </a:ext>
            </a:extLst>
          </p:cNvPr>
          <p:cNvSpPr txBox="1"/>
          <p:nvPr/>
        </p:nvSpPr>
        <p:spPr>
          <a:xfrm>
            <a:off x="1288669" y="5484985"/>
            <a:ext cx="762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Apple Braille" pitchFamily="2" charset="0"/>
              </a:rPr>
              <a:t>System</a:t>
            </a:r>
          </a:p>
          <a:p>
            <a:pPr algn="ctr"/>
            <a:r>
              <a:rPr kumimoji="1" lang="en-US" altLang="zh-CN" sz="1400" dirty="0">
                <a:latin typeface="Apple Braille" pitchFamily="2" charset="0"/>
              </a:rPr>
              <a:t>Prompt</a:t>
            </a:r>
            <a:endParaRPr kumimoji="1" lang="zh-CN" altLang="en-US" sz="1400" dirty="0">
              <a:latin typeface="Apple Braille" pitchFamily="2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A7D280B-A33B-7A2A-C531-5B63A0F92B84}"/>
              </a:ext>
            </a:extLst>
          </p:cNvPr>
          <p:cNvSpPr txBox="1"/>
          <p:nvPr/>
        </p:nvSpPr>
        <p:spPr>
          <a:xfrm>
            <a:off x="1226440" y="3428249"/>
            <a:ext cx="8002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理解侧</a:t>
            </a:r>
            <a:endParaRPr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en-US" altLang="zh-CN" sz="1600" dirty="0">
                <a:latin typeface="Apple Braille" pitchFamily="2" charset="0"/>
                <a:ea typeface="KaiTi" panose="02010609060101010101" pitchFamily="49" charset="-122"/>
              </a:rPr>
              <a:t>GRPO</a:t>
            </a:r>
            <a:endParaRPr lang="en" altLang="zh-CN" sz="1600" dirty="0">
              <a:latin typeface="Apple Braille" pitchFamily="2" charset="0"/>
              <a:ea typeface="KaiTi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5F01417-6AA1-2A55-D9EE-3B044032284E}"/>
              </a:ext>
            </a:extLst>
          </p:cNvPr>
          <p:cNvSpPr txBox="1"/>
          <p:nvPr/>
        </p:nvSpPr>
        <p:spPr>
          <a:xfrm>
            <a:off x="3118069" y="3401036"/>
            <a:ext cx="1193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生成侧</a:t>
            </a:r>
            <a:endParaRPr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en-US" altLang="zh-CN" sz="1600" dirty="0">
                <a:latin typeface="Apple Braille" pitchFamily="2" charset="0"/>
                <a:ea typeface="KaiTi" panose="02010609060101010101" pitchFamily="49" charset="-122"/>
              </a:rPr>
              <a:t>Flow</a:t>
            </a:r>
            <a:r>
              <a:rPr lang="zh-CN" altLang="en-US" sz="1600" dirty="0">
                <a:latin typeface="Apple Braille" pitchFamily="2" charset="0"/>
                <a:ea typeface="KaiTi" panose="02010609060101010101" pitchFamily="49" charset="-122"/>
              </a:rPr>
              <a:t> </a:t>
            </a:r>
            <a:r>
              <a:rPr lang="en-US" altLang="zh-CN" sz="1600" dirty="0">
                <a:latin typeface="Apple Braille" pitchFamily="2" charset="0"/>
                <a:ea typeface="KaiTi" panose="02010609060101010101" pitchFamily="49" charset="-122"/>
              </a:rPr>
              <a:t>GRPO</a:t>
            </a:r>
            <a:endParaRPr lang="en" altLang="zh-CN" sz="1600" dirty="0">
              <a:latin typeface="Apple Braille" pitchFamily="2" charset="0"/>
              <a:ea typeface="KaiTi" panose="02010609060101010101" pitchFamily="49" charset="-122"/>
            </a:endParaRPr>
          </a:p>
        </p:txBody>
      </p:sp>
      <p:sp>
        <p:nvSpPr>
          <p:cNvPr id="40" name="右箭头 39">
            <a:extLst>
              <a:ext uri="{FF2B5EF4-FFF2-40B4-BE49-F238E27FC236}">
                <a16:creationId xmlns:a16="http://schemas.microsoft.com/office/drawing/2014/main" id="{B86FDA88-CDF9-E713-C4E0-C8939E98056C}"/>
              </a:ext>
            </a:extLst>
          </p:cNvPr>
          <p:cNvSpPr/>
          <p:nvPr/>
        </p:nvSpPr>
        <p:spPr>
          <a:xfrm rot="16200000">
            <a:off x="3657341" y="4423577"/>
            <a:ext cx="181820" cy="2172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右箭头 40">
            <a:extLst>
              <a:ext uri="{FF2B5EF4-FFF2-40B4-BE49-F238E27FC236}">
                <a16:creationId xmlns:a16="http://schemas.microsoft.com/office/drawing/2014/main" id="{0F2C3AE6-E7D2-7EF2-4CC1-96E750A5C36B}"/>
              </a:ext>
            </a:extLst>
          </p:cNvPr>
          <p:cNvSpPr/>
          <p:nvPr/>
        </p:nvSpPr>
        <p:spPr>
          <a:xfrm rot="16200000">
            <a:off x="1560277" y="5101408"/>
            <a:ext cx="219118" cy="2172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7B4D705-BFD8-ED04-C929-E7F6CB857675}"/>
              </a:ext>
            </a:extLst>
          </p:cNvPr>
          <p:cNvSpPr txBox="1"/>
          <p:nvPr/>
        </p:nvSpPr>
        <p:spPr>
          <a:xfrm>
            <a:off x="2160939" y="2819220"/>
            <a:ext cx="99097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pple Braille" pitchFamily="2" charset="0"/>
                <a:ea typeface="KaiTi" panose="02010609060101010101" pitchFamily="49" charset="-122"/>
              </a:rPr>
              <a:t>RL</a:t>
            </a:r>
            <a:r>
              <a:rPr kumimoji="1" lang="zh-CN" altLang="en-US" dirty="0">
                <a:latin typeface="Apple Braille" pitchFamily="2" charset="0"/>
                <a:ea typeface="KaiTi" panose="02010609060101010101" pitchFamily="49" charset="-122"/>
              </a:rPr>
              <a:t> 范式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C819339-5744-4324-1CAA-662D5AF9153B}"/>
              </a:ext>
            </a:extLst>
          </p:cNvPr>
          <p:cNvSpPr txBox="1"/>
          <p:nvPr/>
        </p:nvSpPr>
        <p:spPr>
          <a:xfrm>
            <a:off x="568207" y="4131345"/>
            <a:ext cx="22032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solidFill>
                  <a:schemeClr val="accent6"/>
                </a:solidFill>
                <a:latin typeface="Apple Braille" pitchFamily="2" charset="0"/>
              </a:rPr>
              <a:t>Target Caption</a:t>
            </a:r>
            <a:r>
              <a:rPr kumimoji="1" lang="en-US" altLang="zh-CN" sz="1100" b="1" dirty="0">
                <a:latin typeface="Apple Braille" pitchFamily="2" charset="0"/>
              </a:rPr>
              <a:t>, Editing Steps</a:t>
            </a:r>
            <a:endParaRPr kumimoji="1" lang="zh-CN" altLang="en-US" sz="1100" b="1" dirty="0">
              <a:latin typeface="Apple Braille" pitchFamily="2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6E7381A-7F3E-14EE-2D2C-B9959757CF9D}"/>
              </a:ext>
            </a:extLst>
          </p:cNvPr>
          <p:cNvSpPr txBox="1"/>
          <p:nvPr/>
        </p:nvSpPr>
        <p:spPr>
          <a:xfrm>
            <a:off x="2026659" y="4400518"/>
            <a:ext cx="22032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latin typeface="Apple Braille" pitchFamily="2" charset="0"/>
              </a:rPr>
              <a:t>Image</a:t>
            </a:r>
            <a:r>
              <a:rPr kumimoji="1" lang="zh-CN" altLang="en-US" sz="1100" b="1" dirty="0">
                <a:latin typeface="Apple Braille" pitchFamily="2" charset="0"/>
              </a:rPr>
              <a:t> </a:t>
            </a:r>
            <a:r>
              <a:rPr kumimoji="1" lang="en-US" altLang="zh-CN" sz="1100" b="1" dirty="0">
                <a:latin typeface="Apple Braille" pitchFamily="2" charset="0"/>
              </a:rPr>
              <a:t>Rollout</a:t>
            </a:r>
            <a:endParaRPr kumimoji="1" lang="zh-CN" altLang="en-US" sz="1100" b="1" dirty="0">
              <a:latin typeface="Apple Braille" pitchFamily="2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50CA3BA-A7E5-E11D-FA79-585E412B5A71}"/>
              </a:ext>
            </a:extLst>
          </p:cNvPr>
          <p:cNvSpPr txBox="1"/>
          <p:nvPr/>
        </p:nvSpPr>
        <p:spPr>
          <a:xfrm>
            <a:off x="5293415" y="2804081"/>
            <a:ext cx="194572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Apple Braille" pitchFamily="2" charset="0"/>
                <a:ea typeface="KaiTi" panose="02010609060101010101" pitchFamily="49" charset="-122"/>
              </a:rPr>
              <a:t>理解</a:t>
            </a:r>
            <a:r>
              <a:rPr kumimoji="1" lang="en-US" altLang="zh-CN" dirty="0">
                <a:latin typeface="Apple Braille" pitchFamily="2" charset="0"/>
                <a:ea typeface="KaiTi" panose="02010609060101010101" pitchFamily="49" charset="-122"/>
              </a:rPr>
              <a:t>Reward</a:t>
            </a:r>
            <a:r>
              <a:rPr kumimoji="1" lang="zh-CN" altLang="en-US" dirty="0">
                <a:latin typeface="Apple Braille" pitchFamily="2" charset="0"/>
                <a:ea typeface="KaiTi" panose="02010609060101010101" pitchFamily="49" charset="-122"/>
              </a:rPr>
              <a:t> 设计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03CF2020-7CC4-CD69-0FFE-AED12F1CF4EF}"/>
              </a:ext>
            </a:extLst>
          </p:cNvPr>
          <p:cNvSpPr/>
          <p:nvPr/>
        </p:nvSpPr>
        <p:spPr>
          <a:xfrm>
            <a:off x="5109349" y="4680589"/>
            <a:ext cx="2286000" cy="3562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pple Braille" pitchFamily="2" charset="0"/>
                <a:ea typeface="KaiTi" panose="02010609060101010101" pitchFamily="49" charset="-122"/>
              </a:rPr>
              <a:t>VLM-Qwen35-122B-A10B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A6D5698-E63A-F1FC-C44B-C3D895E7CE34}"/>
              </a:ext>
            </a:extLst>
          </p:cNvPr>
          <p:cNvSpPr txBox="1"/>
          <p:nvPr/>
        </p:nvSpPr>
        <p:spPr>
          <a:xfrm>
            <a:off x="5433512" y="3560153"/>
            <a:ext cx="94165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100" b="1" dirty="0">
                <a:solidFill>
                  <a:schemeClr val="accent6"/>
                </a:solidFill>
                <a:latin typeface="Apple Braille" pitchFamily="2" charset="0"/>
              </a:rPr>
              <a:t>Target </a:t>
            </a:r>
          </a:p>
          <a:p>
            <a:pPr algn="ctr"/>
            <a:r>
              <a:rPr kumimoji="1" lang="en-US" altLang="zh-CN" sz="1100" b="1" dirty="0">
                <a:solidFill>
                  <a:schemeClr val="accent6"/>
                </a:solidFill>
                <a:latin typeface="Apple Braille" pitchFamily="2" charset="0"/>
              </a:rPr>
              <a:t>Caption</a:t>
            </a:r>
            <a:endParaRPr lang="zh-CN" altLang="en-US" sz="1100" dirty="0"/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8BFE8ADE-7792-C0E9-4D6D-487120508C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" t="19346" r="7666"/>
          <a:stretch>
            <a:fillRect/>
          </a:stretch>
        </p:blipFill>
        <p:spPr>
          <a:xfrm>
            <a:off x="6425777" y="3406309"/>
            <a:ext cx="594801" cy="693320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387CA672-553F-16E3-F441-7A3F70E6BDCF}"/>
              </a:ext>
            </a:extLst>
          </p:cNvPr>
          <p:cNvSpPr txBox="1"/>
          <p:nvPr/>
        </p:nvSpPr>
        <p:spPr>
          <a:xfrm>
            <a:off x="6375165" y="3133629"/>
            <a:ext cx="696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Apple Braille" pitchFamily="2" charset="0"/>
              </a:rPr>
              <a:t>source</a:t>
            </a:r>
            <a:endParaRPr kumimoji="1" lang="zh-CN" altLang="en-US" sz="1400" dirty="0">
              <a:latin typeface="Apple Braille" pitchFamily="2" charset="0"/>
            </a:endParaRPr>
          </a:p>
        </p:txBody>
      </p:sp>
      <p:sp>
        <p:nvSpPr>
          <p:cNvPr id="52" name="右大括号 51">
            <a:extLst>
              <a:ext uri="{FF2B5EF4-FFF2-40B4-BE49-F238E27FC236}">
                <a16:creationId xmlns:a16="http://schemas.microsoft.com/office/drawing/2014/main" id="{09EA248D-E8A4-4A18-E76E-63830FAC9CB7}"/>
              </a:ext>
            </a:extLst>
          </p:cNvPr>
          <p:cNvSpPr/>
          <p:nvPr/>
        </p:nvSpPr>
        <p:spPr>
          <a:xfrm rot="5400000">
            <a:off x="9914416" y="3704351"/>
            <a:ext cx="222252" cy="1630993"/>
          </a:xfrm>
          <a:prstGeom prst="rightBrace">
            <a:avLst>
              <a:gd name="adj1" fmla="val 46816"/>
              <a:gd name="adj2" fmla="val 5133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7EBA64B-D734-3736-984F-F6C2EE418D29}"/>
              </a:ext>
            </a:extLst>
          </p:cNvPr>
          <p:cNvSpPr txBox="1"/>
          <p:nvPr/>
        </p:nvSpPr>
        <p:spPr>
          <a:xfrm>
            <a:off x="5730700" y="4218057"/>
            <a:ext cx="10432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/>
                </a:solidFill>
                <a:latin typeface="Apple Braille" pitchFamily="2" charset="0"/>
              </a:rPr>
              <a:t>Difference</a:t>
            </a:r>
            <a:endParaRPr kumimoji="1" lang="zh-CN" altLang="en-US" sz="1400" b="1" dirty="0">
              <a:solidFill>
                <a:schemeClr val="accent6"/>
              </a:solidFill>
              <a:latin typeface="Apple Braille" pitchFamily="2" charset="0"/>
            </a:endParaRPr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1902171E-54A2-7214-4C22-21000BAC1AA2}"/>
              </a:ext>
            </a:extLst>
          </p:cNvPr>
          <p:cNvCxnSpPr>
            <a:cxnSpLocks/>
          </p:cNvCxnSpPr>
          <p:nvPr/>
        </p:nvCxnSpPr>
        <p:spPr>
          <a:xfrm>
            <a:off x="6234243" y="4480307"/>
            <a:ext cx="0" cy="1818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94EA863D-7FA9-A0FA-3189-9FA8BF218292}"/>
              </a:ext>
            </a:extLst>
          </p:cNvPr>
          <p:cNvSpPr txBox="1"/>
          <p:nvPr/>
        </p:nvSpPr>
        <p:spPr>
          <a:xfrm>
            <a:off x="2613211" y="4129678"/>
            <a:ext cx="22032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latin typeface="Apple Braille" pitchFamily="2" charset="0"/>
              </a:rPr>
              <a:t>Generated</a:t>
            </a:r>
            <a:r>
              <a:rPr kumimoji="1" lang="zh-CN" altLang="en-US" sz="1100" b="1" dirty="0">
                <a:latin typeface="Apple Braille" pitchFamily="2" charset="0"/>
              </a:rPr>
              <a:t> </a:t>
            </a:r>
            <a:r>
              <a:rPr kumimoji="1" lang="en-US" altLang="zh-CN" sz="1100" b="1" dirty="0">
                <a:latin typeface="Apple Braille" pitchFamily="2" charset="0"/>
              </a:rPr>
              <a:t>Image</a:t>
            </a:r>
            <a:endParaRPr kumimoji="1" lang="zh-CN" altLang="en-US" sz="1100" b="1" dirty="0">
              <a:latin typeface="Apple Braille" pitchFamily="2" charset="0"/>
            </a:endParaRP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A55C88A2-5992-D38B-0481-1AE036687C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" t="19346" r="7666"/>
          <a:stretch>
            <a:fillRect/>
          </a:stretch>
        </p:blipFill>
        <p:spPr>
          <a:xfrm>
            <a:off x="5390057" y="5656692"/>
            <a:ext cx="594801" cy="693320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01A7C058-4CF3-7EF5-F133-39990B6C920B}"/>
              </a:ext>
            </a:extLst>
          </p:cNvPr>
          <p:cNvSpPr txBox="1"/>
          <p:nvPr/>
        </p:nvSpPr>
        <p:spPr>
          <a:xfrm>
            <a:off x="5339445" y="6311883"/>
            <a:ext cx="696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pple Braille" pitchFamily="2" charset="0"/>
              </a:rPr>
              <a:t>source</a:t>
            </a:r>
            <a:endParaRPr kumimoji="1" lang="zh-CN" altLang="en-US" sz="1400" dirty="0">
              <a:latin typeface="Apple Braille" pitchFamily="2" charset="0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F82414A8-16A7-9559-A876-88024539A8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" t="19785" r="7689"/>
          <a:stretch>
            <a:fillRect/>
          </a:stretch>
        </p:blipFill>
        <p:spPr>
          <a:xfrm>
            <a:off x="6611886" y="5666397"/>
            <a:ext cx="596524" cy="683615"/>
          </a:xfrm>
          <a:prstGeom prst="rect">
            <a:avLst/>
          </a:prstGeom>
        </p:spPr>
      </p:pic>
      <p:sp>
        <p:nvSpPr>
          <p:cNvPr id="63" name="文本框 62">
            <a:extLst>
              <a:ext uri="{FF2B5EF4-FFF2-40B4-BE49-F238E27FC236}">
                <a16:creationId xmlns:a16="http://schemas.microsoft.com/office/drawing/2014/main" id="{5610E125-04C0-3BC1-D704-8E070128B930}"/>
              </a:ext>
            </a:extLst>
          </p:cNvPr>
          <p:cNvSpPr txBox="1"/>
          <p:nvPr/>
        </p:nvSpPr>
        <p:spPr>
          <a:xfrm>
            <a:off x="6611886" y="6311882"/>
            <a:ext cx="643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pple Braille" pitchFamily="2" charset="0"/>
              </a:rPr>
              <a:t>target</a:t>
            </a:r>
            <a:endParaRPr kumimoji="1" lang="zh-CN" altLang="en-US" sz="1400" dirty="0">
              <a:latin typeface="Apple Braille" pitchFamily="2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3D7E3E7-F099-C04A-024E-6600587FCCCC}"/>
              </a:ext>
            </a:extLst>
          </p:cNvPr>
          <p:cNvSpPr txBox="1"/>
          <p:nvPr/>
        </p:nvSpPr>
        <p:spPr>
          <a:xfrm>
            <a:off x="5729210" y="5225000"/>
            <a:ext cx="10432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b="1" dirty="0">
                <a:latin typeface="Apple Braille" pitchFamily="2" charset="0"/>
              </a:rPr>
              <a:t>Difference</a:t>
            </a:r>
            <a:endParaRPr kumimoji="1" lang="zh-CN" altLang="en-US" sz="1400" b="1" dirty="0">
              <a:latin typeface="Apple Braille" pitchFamily="2" charset="0"/>
            </a:endParaRP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D7FBBBD0-DD54-A537-02C5-39692F373F7A}"/>
              </a:ext>
            </a:extLst>
          </p:cNvPr>
          <p:cNvCxnSpPr>
            <a:cxnSpLocks/>
            <a:stCxn id="64" idx="0"/>
            <a:endCxn id="47" idx="2"/>
          </p:cNvCxnSpPr>
          <p:nvPr/>
        </p:nvCxnSpPr>
        <p:spPr>
          <a:xfrm flipV="1">
            <a:off x="6250860" y="5036837"/>
            <a:ext cx="1489" cy="1881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右大括号 68">
            <a:extLst>
              <a:ext uri="{FF2B5EF4-FFF2-40B4-BE49-F238E27FC236}">
                <a16:creationId xmlns:a16="http://schemas.microsoft.com/office/drawing/2014/main" id="{66ADE979-01B9-D4E7-688A-FFE2B0B0379F}"/>
              </a:ext>
            </a:extLst>
          </p:cNvPr>
          <p:cNvSpPr/>
          <p:nvPr/>
        </p:nvSpPr>
        <p:spPr>
          <a:xfrm rot="16200000">
            <a:off x="6148404" y="5110067"/>
            <a:ext cx="186929" cy="941654"/>
          </a:xfrm>
          <a:prstGeom prst="rightBrace">
            <a:avLst>
              <a:gd name="adj1" fmla="val 46816"/>
              <a:gd name="adj2" fmla="val 5133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8836221-B1BA-385B-AD70-47B14EABA549}"/>
              </a:ext>
            </a:extLst>
          </p:cNvPr>
          <p:cNvSpPr txBox="1"/>
          <p:nvPr/>
        </p:nvSpPr>
        <p:spPr>
          <a:xfrm>
            <a:off x="8922346" y="2814209"/>
            <a:ext cx="194572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Apple Braille" pitchFamily="2" charset="0"/>
                <a:ea typeface="KaiTi" panose="02010609060101010101" pitchFamily="49" charset="-122"/>
              </a:rPr>
              <a:t>生成</a:t>
            </a:r>
            <a:r>
              <a:rPr kumimoji="1" lang="en-US" altLang="zh-CN" dirty="0">
                <a:latin typeface="Apple Braille" pitchFamily="2" charset="0"/>
                <a:ea typeface="KaiTi" panose="02010609060101010101" pitchFamily="49" charset="-122"/>
              </a:rPr>
              <a:t>Reward</a:t>
            </a:r>
            <a:r>
              <a:rPr kumimoji="1" lang="zh-CN" altLang="en-US" dirty="0">
                <a:latin typeface="Apple Braille" pitchFamily="2" charset="0"/>
                <a:ea typeface="KaiTi" panose="02010609060101010101" pitchFamily="49" charset="-122"/>
              </a:rPr>
              <a:t> 设计</a:t>
            </a:r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17C12BE8-87E2-B349-9C8C-19459B9EC558}"/>
              </a:ext>
            </a:extLst>
          </p:cNvPr>
          <p:cNvSpPr/>
          <p:nvPr/>
        </p:nvSpPr>
        <p:spPr>
          <a:xfrm>
            <a:off x="8827501" y="4662128"/>
            <a:ext cx="2286000" cy="3562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latin typeface="Apple Braille" pitchFamily="2" charset="0"/>
                <a:ea typeface="KaiTi" panose="02010609060101010101" pitchFamily="49" charset="-122"/>
              </a:rPr>
              <a:t>VLM-Qwen35-122B-A10B</a:t>
            </a: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DE2EF3FE-6896-8A5C-995C-9A238C4E92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" t="19346" r="7666"/>
          <a:stretch>
            <a:fillRect/>
          </a:stretch>
        </p:blipFill>
        <p:spPr>
          <a:xfrm>
            <a:off x="8927435" y="3697293"/>
            <a:ext cx="594801" cy="693320"/>
          </a:xfrm>
          <a:prstGeom prst="rect">
            <a:avLst/>
          </a:prstGeom>
        </p:spPr>
      </p:pic>
      <p:sp>
        <p:nvSpPr>
          <p:cNvPr id="73" name="文本框 72">
            <a:extLst>
              <a:ext uri="{FF2B5EF4-FFF2-40B4-BE49-F238E27FC236}">
                <a16:creationId xmlns:a16="http://schemas.microsoft.com/office/drawing/2014/main" id="{50CB75EB-83F6-8EF9-F53A-547C901D952E}"/>
              </a:ext>
            </a:extLst>
          </p:cNvPr>
          <p:cNvSpPr txBox="1"/>
          <p:nvPr/>
        </p:nvSpPr>
        <p:spPr>
          <a:xfrm>
            <a:off x="8862034" y="3428549"/>
            <a:ext cx="6960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Apple Braille" pitchFamily="2" charset="0"/>
              </a:rPr>
              <a:t>source</a:t>
            </a:r>
            <a:endParaRPr kumimoji="1" lang="zh-CN" altLang="en-US" sz="1400" dirty="0">
              <a:latin typeface="Apple Braille" pitchFamily="2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1C70407F-66E7-9A54-1066-B9E0B0A6B450}"/>
              </a:ext>
            </a:extLst>
          </p:cNvPr>
          <p:cNvSpPr txBox="1"/>
          <p:nvPr/>
        </p:nvSpPr>
        <p:spPr>
          <a:xfrm>
            <a:off x="9669040" y="3726496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" dirty="0">
                <a:latin typeface="KaiTi" panose="02010609060101010101" pitchFamily="49" charset="-122"/>
                <a:ea typeface="KaiTi" panose="02010609060101010101" pitchFamily="49" charset="-122"/>
              </a:rPr>
              <a:t>编辑</a:t>
            </a:r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指令</a:t>
            </a:r>
            <a:endParaRPr lang="en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343E2486-80F8-0EFA-0C3E-CFCB02BA7ECE}"/>
              </a:ext>
            </a:extLst>
          </p:cNvPr>
          <p:cNvSpPr txBox="1"/>
          <p:nvPr/>
        </p:nvSpPr>
        <p:spPr>
          <a:xfrm>
            <a:off x="10082039" y="3837438"/>
            <a:ext cx="12717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b="1" dirty="0">
                <a:latin typeface="Apple Braille" pitchFamily="2" charset="0"/>
              </a:rPr>
              <a:t>Generated</a:t>
            </a:r>
            <a:r>
              <a:rPr kumimoji="1" lang="zh-CN" altLang="en-US" sz="1100" b="1" dirty="0">
                <a:latin typeface="Apple Braille" pitchFamily="2" charset="0"/>
              </a:rPr>
              <a:t> </a:t>
            </a:r>
            <a:endParaRPr kumimoji="1" lang="en-US" altLang="zh-CN" sz="1100" b="1" dirty="0">
              <a:latin typeface="Apple Braille" pitchFamily="2" charset="0"/>
            </a:endParaRPr>
          </a:p>
          <a:p>
            <a:pPr algn="ctr"/>
            <a:r>
              <a:rPr kumimoji="1" lang="en-US" altLang="zh-CN" sz="1100" b="1" dirty="0">
                <a:latin typeface="Apple Braille" pitchFamily="2" charset="0"/>
              </a:rPr>
              <a:t>Image</a:t>
            </a:r>
            <a:endParaRPr kumimoji="1" lang="zh-CN" altLang="en-US" sz="1100" b="1" dirty="0">
              <a:latin typeface="Apple Braille" pitchFamily="2" charset="0"/>
            </a:endParaRPr>
          </a:p>
        </p:txBody>
      </p:sp>
      <p:sp>
        <p:nvSpPr>
          <p:cNvPr id="76" name="右大括号 75">
            <a:extLst>
              <a:ext uri="{FF2B5EF4-FFF2-40B4-BE49-F238E27FC236}">
                <a16:creationId xmlns:a16="http://schemas.microsoft.com/office/drawing/2014/main" id="{A2E16CA9-AC97-FF15-EEB0-080CF323C29C}"/>
              </a:ext>
            </a:extLst>
          </p:cNvPr>
          <p:cNvSpPr/>
          <p:nvPr/>
        </p:nvSpPr>
        <p:spPr>
          <a:xfrm rot="5400000">
            <a:off x="6172812" y="3747298"/>
            <a:ext cx="186929" cy="941654"/>
          </a:xfrm>
          <a:prstGeom prst="rightBrace">
            <a:avLst>
              <a:gd name="adj1" fmla="val 46816"/>
              <a:gd name="adj2" fmla="val 51335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95479D8B-353A-8175-F4A2-6B310440916C}"/>
              </a:ext>
            </a:extLst>
          </p:cNvPr>
          <p:cNvSpPr txBox="1"/>
          <p:nvPr/>
        </p:nvSpPr>
        <p:spPr>
          <a:xfrm>
            <a:off x="9489503" y="525401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编辑打分</a:t>
            </a:r>
          </a:p>
        </p:txBody>
      </p: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9B7C681D-6403-FC28-C2A5-9A9FB0C0C9C2}"/>
              </a:ext>
            </a:extLst>
          </p:cNvPr>
          <p:cNvCxnSpPr>
            <a:cxnSpLocks/>
          </p:cNvCxnSpPr>
          <p:nvPr/>
        </p:nvCxnSpPr>
        <p:spPr>
          <a:xfrm>
            <a:off x="9992205" y="5040007"/>
            <a:ext cx="0" cy="1818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096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BC1A2-82F8-A8FC-C73A-59B8264CE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D7BE55-2BBA-69B1-EFF3-223DD1F0B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Apple Braille" pitchFamily="2" charset="0"/>
                <a:ea typeface="Kaiti SC" panose="02010600040101010101" pitchFamily="2" charset="-122"/>
                <a:cs typeface="Arial" panose="020B0604020202020204" pitchFamily="34" charset="0"/>
              </a:rPr>
              <a:t>StructureSVG</a:t>
            </a:r>
            <a:endParaRPr kumimoji="1" lang="zh-CN" altLang="en-US" b="1" dirty="0">
              <a:latin typeface="Apple Braille" pitchFamily="2" charset="0"/>
              <a:ea typeface="Kaiti SC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B5B594DC-2137-B04D-20A9-FE9B286BC0F2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A9D1DE47-7F3D-DEF6-B121-27F603335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217"/>
            <a:ext cx="10515600" cy="5049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重新思考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的表达形式，提出语义结构强化的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代码表示</a:t>
            </a:r>
            <a:endParaRPr kumimoji="1" lang="en" altLang="zh-CN" sz="2400" dirty="0">
              <a:latin typeface="Apple Braille" pitchFamily="2" charset="0"/>
              <a:ea typeface="Kaiti SC" panose="0201060004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A9D2AD4-D07A-C093-DF14-62C0D0012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369" y="2169371"/>
            <a:ext cx="6998110" cy="4210291"/>
          </a:xfrm>
          <a:prstGeom prst="rect">
            <a:avLst/>
          </a:prstGeom>
        </p:spPr>
      </p:pic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4316BDB0-4C5E-30E2-AAFA-F59C2A1E9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1374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63EAB-E8B2-C7D8-19E4-B7F53DFA7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1D084-1027-3DAE-611E-B63E0A5CA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Apple Braille" pitchFamily="2" charset="0"/>
                <a:ea typeface="Kaiti SC" panose="02010600040101010101" pitchFamily="2" charset="-122"/>
                <a:cs typeface="Arial" panose="020B0604020202020204" pitchFamily="34" charset="0"/>
              </a:rPr>
              <a:t>StructureSVG</a:t>
            </a:r>
            <a:endParaRPr kumimoji="1" lang="zh-CN" altLang="en-US" b="1" dirty="0">
              <a:latin typeface="Apple Braille" pitchFamily="2" charset="0"/>
              <a:ea typeface="Kaiti SC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0A161241-7645-915B-6CCE-D0FB5A53CD80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033FB513-949F-F359-A4A9-A1421AF68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217"/>
            <a:ext cx="10515600" cy="5049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重新思考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的表达形式，提出语义结构强化的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代码表示</a:t>
            </a:r>
            <a:endParaRPr kumimoji="1" lang="en" altLang="zh-CN" sz="2400" dirty="0">
              <a:latin typeface="Apple Braille" pitchFamily="2" charset="0"/>
              <a:ea typeface="Kaiti SC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BFD3D8-C78B-E945-5645-9A485886D4ED}"/>
              </a:ext>
            </a:extLst>
          </p:cNvPr>
          <p:cNvSpPr txBox="1"/>
          <p:nvPr/>
        </p:nvSpPr>
        <p:spPr>
          <a:xfrm>
            <a:off x="931653" y="2170473"/>
            <a:ext cx="1126590" cy="4001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Apple Braille" pitchFamily="2" charset="0"/>
                <a:ea typeface="Kaiti SC" panose="02010600040101010101" pitchFamily="2" charset="-122"/>
              </a:rPr>
              <a:t>图转</a:t>
            </a:r>
            <a:r>
              <a:rPr kumimoji="1" lang="en-US" altLang="zh-CN" sz="20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endParaRPr kumimoji="1" lang="zh-CN" altLang="en-US" sz="2000" dirty="0">
              <a:latin typeface="Apple Braille" pitchFamily="2" charset="0"/>
              <a:ea typeface="Kaiti SC" panose="02010600040101010101" pitchFamily="2" charset="-122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867EFBC-FF9C-A0B5-CB12-5E710D6CC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440" y="2625068"/>
            <a:ext cx="3367957" cy="336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FEF93519-52E1-9DC4-E1CD-1DB63130E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578" y="2570583"/>
            <a:ext cx="3534247" cy="353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29E00BC-9D42-0170-5884-2D39EF7054F3}"/>
              </a:ext>
            </a:extLst>
          </p:cNvPr>
          <p:cNvSpPr txBox="1"/>
          <p:nvPr/>
        </p:nvSpPr>
        <p:spPr>
          <a:xfrm>
            <a:off x="4795644" y="2185862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肖像</a:t>
            </a:r>
            <a:r>
              <a:rPr kumimoji="1" lang="en-US" altLang="zh-CN" dirty="0">
                <a:latin typeface="Kaiti SC" panose="02010600040101010101" pitchFamily="2" charset="-122"/>
                <a:ea typeface="Kaiti SC" panose="02010600040101010101" pitchFamily="2" charset="-122"/>
              </a:rPr>
              <a:t>+</a:t>
            </a:r>
            <a:r>
              <a:rPr kumimoji="1" lang="zh-CN" altLang="en-US" dirty="0">
                <a:latin typeface="Kaiti SC" panose="02010600040101010101" pitchFamily="2" charset="-122"/>
                <a:ea typeface="Kaiti SC" panose="02010600040101010101" pitchFamily="2" charset="-122"/>
              </a:rPr>
              <a:t>人体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B141A894-22C4-03DA-39F5-F2365E636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914" y="2638869"/>
            <a:ext cx="3408641" cy="3408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DBF3C9D-B4F0-D2BD-FF7D-A9B3AEC1D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653" y="2696189"/>
            <a:ext cx="3258050" cy="162178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C0E0D38-AA6D-FA91-5244-CF2DB94DE2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9703" y="2696189"/>
            <a:ext cx="3256140" cy="162178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34197B0-A334-42F9-4D2C-A2B52F6A71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9381" y="2696190"/>
            <a:ext cx="1624908" cy="162178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75291EC-0A50-4112-8397-6326FE1112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653" y="4474357"/>
            <a:ext cx="3258050" cy="163047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02BC975-4171-D88F-F0EB-FFE407866B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6179" y="4474357"/>
            <a:ext cx="3188110" cy="1589789"/>
          </a:xfrm>
          <a:prstGeom prst="rect">
            <a:avLst/>
          </a:prstGeom>
        </p:spPr>
      </p:pic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B00C07C7-134C-A674-5EEA-D3A50999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6171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F55C4-E8FB-955C-704B-5BD164E6A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075321-6757-0D01-B30B-1BEC3751E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Apple Braille" pitchFamily="2" charset="0"/>
                <a:ea typeface="Kaiti SC" panose="02010600040101010101" pitchFamily="2" charset="-122"/>
                <a:cs typeface="Arial" panose="020B0604020202020204" pitchFamily="34" charset="0"/>
              </a:rPr>
              <a:t>StructureSVG</a:t>
            </a:r>
            <a:endParaRPr kumimoji="1" lang="zh-CN" altLang="en-US" b="1" dirty="0">
              <a:latin typeface="Apple Braille" pitchFamily="2" charset="0"/>
              <a:ea typeface="Kaiti SC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82A79278-8AA4-C86A-79FF-AECE9C59233D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C96B96BF-488C-DAA8-1C19-BEBDE470A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217"/>
            <a:ext cx="10515600" cy="5049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重新思考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的表达形式，提出语义结构强化的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代码表示</a:t>
            </a:r>
            <a:endParaRPr kumimoji="1" lang="en" altLang="zh-CN" sz="2400" dirty="0">
              <a:latin typeface="Apple Braille" pitchFamily="2" charset="0"/>
              <a:ea typeface="Kaiti SC" panose="02010600040101010101" pitchFamily="2" charset="-122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DDDEF7A-A6FB-6062-8EA3-9609F7E50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76825"/>
            <a:ext cx="3037136" cy="150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>
            <a:extLst>
              <a:ext uri="{FF2B5EF4-FFF2-40B4-BE49-F238E27FC236}">
                <a16:creationId xmlns:a16="http://schemas.microsoft.com/office/drawing/2014/main" id="{60C37298-4460-C0A7-84B9-65B5031F2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331" y="2676825"/>
            <a:ext cx="1517009" cy="150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86F432E8-23B5-7FCF-EB49-2CB8653FE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459" y="2676825"/>
            <a:ext cx="1461036" cy="150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>
            <a:extLst>
              <a:ext uri="{FF2B5EF4-FFF2-40B4-BE49-F238E27FC236}">
                <a16:creationId xmlns:a16="http://schemas.microsoft.com/office/drawing/2014/main" id="{5BCFC823-9F4B-A362-86AB-29A6F8C82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614" y="2676825"/>
            <a:ext cx="1548329" cy="150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ADDC6DB-9AD4-5808-6A21-DBBAD102A434}"/>
              </a:ext>
            </a:extLst>
          </p:cNvPr>
          <p:cNvSpPr txBox="1"/>
          <p:nvPr/>
        </p:nvSpPr>
        <p:spPr>
          <a:xfrm>
            <a:off x="931653" y="2170473"/>
            <a:ext cx="1126590" cy="4001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r>
              <a:rPr kumimoji="1" lang="zh-CN" altLang="en-US" sz="2000" dirty="0">
                <a:latin typeface="Apple Braille" pitchFamily="2" charset="0"/>
                <a:ea typeface="Kaiti SC" panose="02010600040101010101" pitchFamily="2" charset="-122"/>
              </a:rPr>
              <a:t>编辑</a:t>
            </a:r>
          </a:p>
        </p:txBody>
      </p:sp>
      <p:pic>
        <p:nvPicPr>
          <p:cNvPr id="9" name="钉钉录屏_2026-01-16 下午123448_A4F7E9A9-F837-4444-84EE-DDC32218B2C4.mp4">
            <a:hlinkClick r:id="" action="ppaction://media"/>
            <a:extLst>
              <a:ext uri="{FF2B5EF4-FFF2-40B4-BE49-F238E27FC236}">
                <a16:creationId xmlns:a16="http://schemas.microsoft.com/office/drawing/2014/main" id="{8DAF9B71-B08A-F949-FCE6-74B457C84BB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888361" y="2370528"/>
            <a:ext cx="3063486" cy="324369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B7D9188-0763-A784-A502-F68836CEA808}"/>
              </a:ext>
            </a:extLst>
          </p:cNvPr>
          <p:cNvSpPr txBox="1"/>
          <p:nvPr/>
        </p:nvSpPr>
        <p:spPr>
          <a:xfrm>
            <a:off x="2058243" y="5531414"/>
            <a:ext cx="6862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Structure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 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的代码表示让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SVG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编辑变得更加容易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178051F0-184B-7B11-14BB-D14071C28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5613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77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670EF-ABD5-045E-F657-DCC5A737A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9BAF4-C9F7-E2F4-2F85-456BCA7BC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Apple Braille" pitchFamily="2" charset="0"/>
                <a:ea typeface="Kaiti SC" panose="02010600040101010101" pitchFamily="2" charset="-122"/>
                <a:cs typeface="Arial" panose="020B0604020202020204" pitchFamily="34" charset="0"/>
              </a:rPr>
              <a:t>FontVerse</a:t>
            </a:r>
            <a:endParaRPr kumimoji="1" lang="zh-CN" altLang="en-US" b="1" dirty="0">
              <a:latin typeface="Apple Braille" pitchFamily="2" charset="0"/>
              <a:ea typeface="Kaiti SC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77CF0284-BF63-D8C5-518C-24CA2D994E93}"/>
              </a:ext>
            </a:extLst>
          </p:cNvPr>
          <p:cNvCxnSpPr/>
          <p:nvPr/>
        </p:nvCxnSpPr>
        <p:spPr>
          <a:xfrm>
            <a:off x="931653" y="1414732"/>
            <a:ext cx="983411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C429D86D-F771-AFA4-B45B-64708DB66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217"/>
            <a:ext cx="10515600" cy="5049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一套架构支持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RGB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和</a:t>
            </a:r>
            <a:r>
              <a:rPr kumimoji="1" lang="en-US" altLang="zh-CN" sz="2400" dirty="0">
                <a:latin typeface="Apple Braille" pitchFamily="2" charset="0"/>
                <a:ea typeface="Kaiti SC" panose="02010600040101010101" pitchFamily="2" charset="-122"/>
              </a:rPr>
              <a:t>RGBA</a:t>
            </a:r>
            <a:r>
              <a:rPr kumimoji="1" lang="zh-CN" altLang="en-US" sz="2400" dirty="0">
                <a:latin typeface="Apple Braille" pitchFamily="2" charset="0"/>
                <a:ea typeface="Kaiti SC" panose="02010600040101010101" pitchFamily="2" charset="-122"/>
              </a:rPr>
              <a:t> 形式的风格化字体生成</a:t>
            </a:r>
            <a:endParaRPr kumimoji="1" lang="en" altLang="zh-CN" sz="2400" dirty="0">
              <a:latin typeface="Apple Braille" pitchFamily="2" charset="0"/>
              <a:ea typeface="Kaiti SC" panose="02010600040101010101" pitchFamily="2" charset="-122"/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3EA9068-21AE-9E20-6069-BD486680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10</a:t>
            </a:fld>
            <a:endParaRPr kumimoji="1" lang="zh-CN" altLang="en-US"/>
          </a:p>
        </p:txBody>
      </p:sp>
      <p:pic>
        <p:nvPicPr>
          <p:cNvPr id="2050" name="Picture 2" descr="amber cabin rendered in Plush Toy with 002-abhayalibre">
            <a:extLst>
              <a:ext uri="{FF2B5EF4-FFF2-40B4-BE49-F238E27FC236}">
                <a16:creationId xmlns:a16="http://schemas.microsoft.com/office/drawing/2014/main" id="{9528395B-6E98-7AFB-4060-1B5685EDB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9946" y="2552958"/>
            <a:ext cx="2941119" cy="294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mber cabin rendered in Plush Toy with 002-abhayalibre">
            <a:extLst>
              <a:ext uri="{FF2B5EF4-FFF2-40B4-BE49-F238E27FC236}">
                <a16:creationId xmlns:a16="http://schemas.microsoft.com/office/drawing/2014/main" id="{DC1CD9C6-BAFA-568E-389B-2AAC28B69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714" y="2552958"/>
            <a:ext cx="2941120" cy="294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lush Toy style reference">
            <a:extLst>
              <a:ext uri="{FF2B5EF4-FFF2-40B4-BE49-F238E27FC236}">
                <a16:creationId xmlns:a16="http://schemas.microsoft.com/office/drawing/2014/main" id="{88B5CE21-A8AA-C449-8B3E-D27186ACD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81" y="2552958"/>
            <a:ext cx="2941121" cy="2941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915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5FDFEF-2174-1398-96E6-A5E18422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CN" sz="6000" dirty="0">
                <a:latin typeface="Apple Braille" pitchFamily="2" charset="0"/>
              </a:rPr>
              <a:t>Thanks</a:t>
            </a:r>
            <a:endParaRPr kumimoji="1" lang="zh-CN" altLang="en-US" sz="6000" dirty="0">
              <a:latin typeface="Apple Braille" pitchFamily="2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006E4E-32A5-59C4-9680-96DF14AC9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053A5-EFDB-8D4D-8D48-FAFBCDBE6778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496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14178</TotalTime>
  <Words>434</Words>
  <Application>Microsoft Macintosh PowerPoint</Application>
  <PresentationFormat>宽屏</PresentationFormat>
  <Paragraphs>118</Paragraphs>
  <Slides>11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等线</vt:lpstr>
      <vt:lpstr>等线 Light</vt:lpstr>
      <vt:lpstr>KaiTi</vt:lpstr>
      <vt:lpstr>Kaiti SC</vt:lpstr>
      <vt:lpstr>Apple Braille</vt:lpstr>
      <vt:lpstr>Arial</vt:lpstr>
      <vt:lpstr>Wingdings</vt:lpstr>
      <vt:lpstr>Office 主题​​</vt:lpstr>
      <vt:lpstr>个人简介</vt:lpstr>
      <vt:lpstr>过往研究工作</vt:lpstr>
      <vt:lpstr>风格迁移研究总结</vt:lpstr>
      <vt:lpstr>近期正在进行的工作</vt:lpstr>
      <vt:lpstr>UMM+Post-Training</vt:lpstr>
      <vt:lpstr>UMM+Post-Training</vt:lpstr>
      <vt:lpstr>StructureSVG</vt:lpstr>
      <vt:lpstr>StructureSVG</vt:lpstr>
      <vt:lpstr>StructureSVG</vt:lpstr>
      <vt:lpstr>FontVerse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个人简介</dc:title>
  <dc:creator>loushan</dc:creator>
  <cp:lastModifiedBy>T115814</cp:lastModifiedBy>
  <cp:revision>171</cp:revision>
  <dcterms:created xsi:type="dcterms:W3CDTF">2026-01-17T10:10:03Z</dcterms:created>
  <dcterms:modified xsi:type="dcterms:W3CDTF">2026-05-18T12:27:27Z</dcterms:modified>
</cp:coreProperties>
</file>